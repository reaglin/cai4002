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brings together: Defining Intelligence and Artificial Intelligence; Origins and Early History of AI; The Turing Test and Measuring Machine Intelligence; Strong AI versus Weak AI; AI Winters and Cycles of Progress; Modern Breakthroughs and Current Trends; Application Domains of AI; Ethical Considerations in AI Practice.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build the conceptual vocabulary for the module. We will ask what intelligence means, examine four classic framings of AI, walk through Turing's imitation game, separate strong from weak AI, introduce the rational-agent vocabulary, and finish by asking why definitions matter in practice. Nothing here is mere philosophy: every definition we adopt determines what we build, how we test it, and what we claim in public.</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Intelligence resists definition. Psychologists have offered general-factor accounts, multiple-intelligences accounts, and practical definitions such as 'the ability to achieve goals in a wide range of environments.' Most working definitions list capabilities: perceiving, learning from experience, reasoning under uncertainty, using language, adapting to novelty, and transferring knowledge to new tasks. Because the target is fuzzy, benchmarks stand in for it — chess, exams, conversation — and each benchmark privileges some capabilities while ignoring others. Keep this ambiguity in mind: disagreement about AI progress is often really disagreement about definitions.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Russell and Norvig organise AI definitions on a two-by-two grid. One axis asks whether we care about internal thought or external behaviour; the other asks whether the yardstick is human performance or an ideal standard of rationality. Thinking humanly draws on cognitive science and introspection. Thinking rationally descends from Aristotle's syllogisms and the logicist tradition, and struggles with uncertainty and computational cost. Acting humanly is operationalised by the Turing Test. Acting rationally — maximising expected performance given available information — dominates contemporary AI because it is measurable, mathematically tractable, and does not require imitating human quirks or error.</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 'Computing Machinery and Intelligence' Turing argued the original question was too vague, and proposed the imitation game. A human interrogator exchanges typed messages with two hidden participants — one human, one machine — and must identify which is which. Sustained failure to identify the machine counts as evidence of thinking. The test is deliberately behavioural: text-only channels prevent judgement by appearance or voice. Turing also anticipated objections, including the mathematical and consciousness objections. Modern critiques note that systems can pass by mimicking human error or evading questions, and that many valuable AI capabilities have nothing to do with impersonating people. Variants such as total and reverse Turing tests, including CAPTCHAs, extend the idea.</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Weak AI treats the computer as a tool for modelling and performing tasks; strong AI claims an appropriately programmed computer literally has a mind. Searle's Chinese Room thought experiment attacks strong AI: a person following rules to manipulate Chinese symbols produces correct answers without understanding Chinese, so syntax alone cannot yield semantics. Classification criteria for students: task breadth, transfer to unfamiliar domains, autonomous goal-setting, and self-awareness. By these criteria chess engines, recommender systems, medical image classifiers, and even large language models remain narrow — broad in surface competence but lacking general, self-directed understanding. Note that whether strong AI is achievable remains an open empirical and philosophical question.</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Modern AI is usually presented as the design of rational agents. An agent maps percept sequences to actions; the agent program implements this function on a physical or virtual architecture. Rationality is defined relative to an external performance measure, not the agent's own opinion, and is distinguished from omniscience — a rational agent can still fail from incomplete information. Environment properties determine which techniques apply: search, logic, probability, or learning. Because perfect rationality is computationally infeasible, we settle for bounded or limited rationality. This vocabulary — agent, environment, percept, action, utility, performance measure — recurs throughout the module.</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Recap and payoff. Choosing a definition chooses a benchmark: if intelligence means passing exams, we build exam-passers. Companies and journalists exploit definitional slippage when narrow performance is reported as general intelligence, which distorts investment, regulation, and public trust. Definitional clarity also supports ethical evaluation: you cannot assess accountability or transparency without stating what the system is claimed to do. Remind students of the takeaways on screen and preview the next sessions, which trace AI's history, its boom-and-bust cycles, and its ethical challenges.</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how artificial intelligence moved from a philosophical puzzle to a named scientific discipline. We begin with thinkers who asked whether reasoning could be mechanized, move through Alan Turing's foundational work, mark the 1956 Dartmouth conference as AI's official birth, survey the first landmark programs, examine the symbolic paradigm that dominated early research, and close with the bold predictions that outran reality. The goal is historical literacy: understanding why the field asked the questions it did, and why its first wave of optimism collapsed.</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Long before computers, philosophers asked whether thinking could be reduced to mechanical rules. Aristotle's syllogistic logic gave the first formal inference patterns. Hobbes wrote that reasoning is 'nothing but reckoning'; Leibniz dreamed of a universal calculus that could settle disputes by computation, and built a mechanical calculator. In the 19th century George Boole reduced logic to algebra, and Frege developed predicate logic — the ancestor of knowledge representation. In the 1930s Gödel's incompleteness theorems and Church's lambda calculus clarified both the power and the boundaries of formal systems. Mention Babbage and Lovelace: the Analytical Engine raised the question of whether machines could originate ideas. These strands together supplied AI's conceptual toolkit: representation, inference, and computability.</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Alan Turing bridges mathematics and philosophy of mind. His 1936 paper introduced the abstract Turing machine, defining what is computable and establishing that a single universal machine can simulate any other — the theoretical basis of general-purpose computers. In 'Computing Machinery and Intelligence' (1950) he argued the question 'can machines think?' is too vague, and replaced it with the imitation game: an interrogator communicates by teletype with a human and a machine and tries to identify which is which; if the machine is indistinguishable often enough, we should credit it with intelligence. Turing catalogued and rebutted nine objections, including the theological, mathematical, and Lady Lovelace objections. He also suggested machines might be taught like children through learning rather than fully programmed, predicting progress by around 2000. Note his wartime codebreaking work and the 1948 essay on intelligent machinery.</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Dartmouth Summer Research Project on Artificial Intelligence, held at Dartmouth College in 1956, is widely regarded as the founding event of the field. John McCarthy proposed the name 'artificial intelligence' partly to distinguish the effort from cybernetics and automata studies. The 1955 funding proposal to the Rockefeller Foundation asserted that every aspect of learning or intelligence could in principle be described so precisely that a machine could simulate it. The two-month gathering was loosely organized, with participants coming and going, but it assembled the people who would lead AI for decades: Marvin Minsky, Claude Shannon, Nathaniel Rochester, Allen Newell, Herbert Simon, Arthur Samuel, Oliver Selfridge, Ray Solomonoff. Newell and Simon presented the Logic Theorist, arguably the only running 'thinking program' there. The conference gave AI a name, a community, and a research agenda.</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first two decades produced programs that performed tasks assumed to require human intellect. Newell, Simon and Shaw's Logic Theorist proved theorems from Russell and Whitehead's Principia, sometimes more elegantly than the originals. Their General Problem Solver formalized means-ends analysis, reducing differences between current and goal states. Arthur Samuel's checkers player used rote learning and evaluation-function tuning to improve beyond its programmer — an early machine-learning milestone. McCarthy created LISP in 1958, the field's dominant language. Rosenblatt's perceptron (1958) modeled trainable neural units. Weizenbaum's ELIZA (1966) mimicked a Rogerian therapist with pattern matching and unnerved users with how readily they attributed understanding. Winograd's SHRDLU (1970) parsed and executed natural-language commands in a simulated blocks world. DENDRAL and later MYCIN launched expert systems. Each success narrowed to a 'microworld' — a limitation that mattered later.</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Symbolic AI rested on Newell and Simon's physical symbol system hypothesis: a system that manipulates symbols according to rules has the necessary and sufficient means for general intelligent action. Haugeland later nicknamed this 'good old-fashioned AI'. Its tools were logical representation, heuristic search, and hand-coded knowledge; its strength was transparency and explicit reasoning. Early successes fed extraordinary confidence: Simon claimed in 1965 that machines would do any work a man can do within twenty years; Minsky predicted the problem of artificial intelligence would be substantially solved within a generation. Reality intervened. Search spaces exploded combinatorially, machine translation failed, commonsense knowledge proved vast and hard to encode, Minsky and Papert's critique stalled perceptron research, and microworld programs did not generalize. The 1973 Lighthill report in Britain and US DARPA reductions cut funding sharply, producing the AI winter of roughly 1974 to 1980 — a pattern repeated when the expert-system market collapsed around 1987.</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Pull the threads together. AI did not begin in 1956; it inherited centuries of work on formalizing reasoning, culminating in Turing's computability results and his operational reframing of machine intelligence. Dartmouth converted scattered efforts into a discipline with a name and a shared agenda. The symbolic paradigm then delivered genuine landmarks — theorem proving, game playing, natural-language dialogue, early expert systems — but each depended on constrained domains and hand-built knowledge. The mismatch between confident public predictions and actual scaling limits explains the boom-and-bust funding cycles that define AI's history. The lesson for students: evaluate claims about AI capability against the breadth of the domain, the source of the knowledge, and the demonstrated generalization.</a:t>
            </a:r>
          </a:p>
        </p:txBody>
      </p:sp>
    </p:spTree>
  </p:cSld>
  <p:clrMapOvr>
    <a:masterClrMapping/>
  </p:clrMapOvr>
</p:notes>
</file>

<file path=ppt/notesSlides/notesSlide1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one of the most famous ideas in computing: Alan Turing's proposal to replace the philosophical question 'Can machines think?' with a practical, observable test. We will look at how the imitation game works, what capabilities a machine would need to pass it, how the test has been modified and commercialized, the major philosophical objections led by Searle's Chinese Room, and the task-based benchmarks researchers rely on instead today. Keep one question in mind throughout: are we measuring intelligence, or merely measuring resemblance to humans?</a:t>
            </a:r>
          </a:p>
        </p:txBody>
      </p:sp>
    </p:spTree>
  </p:cSld>
  <p:clrMapOvr>
    <a:masterClrMapping/>
  </p:clrMapOvr>
</p:notes>
</file>

<file path=ppt/notesSlides/notesSlide1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Turing opened his 1950 Mind paper by noting that answering 'Can machines think?' requires defining 'machine' and 'think' — and ordinary usage of 'think' is too loose and loaded to settle by argument or survey. His move was operational: substitute a question that can be answered by experiment. If a machine's observable conversational behavior is indistinguishable from a human's, we have no principled behavioral grounds for denying it thinks. This is a behaviorist stance — it deliberately brackets consciousness, inner experience, and mechanism, and judges only external performance. Turing also anticipated and answered nine objections, including theological, mathematical (Gödel), and 'Lady Lovelace's' objection that machines can only do what we tell them.</a:t>
            </a:r>
          </a:p>
        </p:txBody>
      </p:sp>
    </p:spTree>
  </p:cSld>
  <p:clrMapOvr>
    <a:masterClrMapping/>
  </p:clrMapOvr>
</p:notes>
</file>

<file path=ppt/notesSlides/notesSlide1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setup derives from a party game in which a man and woman try to fool an interrogator about their genders. Turing swapped one player for a machine. Communication is by teletype — today, a chat window — so that the machine is not penalized for lacking a human voice or body. The interrogator may ask anything: arithmetic, poetry, opinions, jokes, follow-up questions probing memory and consistency. The machine may lie, pause, or make deliberate errors to seem human. Crucially, the criterion is statistical and comparative: not 'did it seem smart?' but 'did judges do better than chance at identifying the human?' Turing forecast that by 2000, a machine with about 10^9 bits of storage would fool average interrogators 70% of the time in five-minute sessions.</a:t>
            </a:r>
          </a:p>
        </p:txBody>
      </p:sp>
    </p:spTree>
  </p:cSld>
  <p:clrMapOvr>
    <a:masterClrMapping/>
  </p:clrMapOvr>
</p:notes>
</file>

<file path=ppt/notesSlides/notesSlide1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Passing is not a narrow trick; it presupposes a bundle of competencies that effectively define AI's research agenda. Russell and Norvig list four for the standard test — natural language processing, knowledge representation, automated reasoning, and machine learning — and add two more for the 'total Turing test,' where a video channel and a physical hatch let the interrogator test perception and object manipulation: computer vision and robotics. This is why the test has been so influential pedagogically: it decomposes 'intelligence' into researchable sub-problems. Note the irony Russell and Norvig emphasize — most AI researchers never work on passing the test, in the same way aeronautics succeeded by not imitating pigeons.</a:t>
            </a:r>
          </a:p>
        </p:txBody>
      </p:sp>
    </p:spTree>
  </p:cSld>
  <p:clrMapOvr>
    <a:masterClrMapping/>
  </p:clrMapOvr>
</p:notes>
</file>

<file path=ppt/notesSlides/notesSlide2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Variants aim for rigor, practicality, or modern relevance. The total Turing test closes the embodiment loophole. The reverse Turing test inverts roles: CAPTCHAs are Turing tests administered by machines to millions of humans daily, a commercial deployment of the idea. The Loebner Prize (1991–2019) awarded annual bronze medals for the most human-seeming chatbot, though critics said it rewarded evasion tricks. Landmark systems: Weizenbaum's ELIZA (1966) fooled users with keyword reflection; Colby's PARRY simulated paranoia and fooled psychiatrists; 'Eugene Goostman' claimed a 2014 pass by posing as a 13-year-old Ukrainian boy — an excuse for poor grammar and narrow knowledge. The Winograd Schema Challenge replaced deception with disambiguation, requiring genuine world knowledge. Modern LLMs have since passed several controlled three-party Turing-test studies, reopening the debate about what passing proves.</a:t>
            </a:r>
          </a:p>
        </p:txBody>
      </p:sp>
    </p:spTree>
  </p:cSld>
  <p:clrMapOvr>
    <a:masterClrMapping/>
  </p:clrMapOvr>
</p:notes>
</file>

<file path=ppt/notesSlides/notesSlide2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Searle imagines himself sealed in a room with a rulebook for shuffling Chinese characters. His outputs satisfy native speakers, yet he understands no Chinese. His conclusion: running a program is never sufficient for understanding, because programs are purely syntactic while minds have semantics. The best-known rebuttal is the Systems Reply — the person is just the CPU; understanding is a property of the entire system. Other replies include the Robot Reply (grounding through sensors) and the Brain Simulator Reply. Beyond Searle: the test measures deception rather than competence, it is gameable by evasion and canned humor, it is anthropocentric (a superintelligent system might fail by being too accurate or too fast), it is not reproducible or quantitative, and it gives no diagnostic feedback to engineers. Hence Russell and Norvig's verdict that it is more philosophically interesting than practically useful.</a:t>
            </a:r>
          </a:p>
        </p:txBody>
      </p:sp>
    </p:spTree>
  </p:cSld>
  <p:clrMapOvr>
    <a:masterClrMapping/>
  </p:clrMapOvr>
</p:notes>
</file>

<file path=ppt/notesSlides/notesSlide2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Wrap-up. Because conversational imitation is narrow and gameable, the field moved to task-based, capability-based evaluation: standardized datasets and leaderboards such as ImageNet for vision, GLUE and SuperGLUE for language understanding, MMLU for broad knowledge, ARC for abstract reasoning, and holistic frameworks like HELM that score accuracy alongside robustness, calibration, fairness, toxicity, and efficiency. Red-teaming and adversarial testing probe safety. These measure performance rather than resemblance — but they carry their own risks: benchmark contamination, overfitting to leaderboards, and Goodhart's law. Key takeaways: Turing's genius was operationalizing a vague question; passing the imitation game implies broad competencies; the Chinese Room challenges whether behavior equals understanding; and today's rigorous benchmarks, not deception, define measured progress.</a:t>
            </a:r>
          </a:p>
        </p:txBody>
      </p:sp>
    </p:spTree>
  </p:cSld>
  <p:clrMapOvr>
    <a:masterClrMapping/>
  </p:clrMapOvr>
</p:notes>
</file>

<file path=ppt/notesSlides/notesSlide2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examine one of the most persistent distinctions in artificial intelligence: weak (narrow) AI versus strong AI, sometimes called artificial general intelligence. We will define each term carefully, explore why philosophers treat the divide as more than a technical label, locate today's most impressive systems on that map, and finally question whether a clean binary is even the right framing. The goal is not to settle the debate but to give you precise vocabulary for classifying systems you encounter in research, in industry, and in the press.</a:t>
            </a:r>
          </a:p>
        </p:txBody>
      </p:sp>
    </p:spTree>
  </p:cSld>
  <p:clrMapOvr>
    <a:masterClrMapping/>
  </p:clrMapOvr>
</p:notes>
</file>

<file path=ppt/notesSlides/notesSlide2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Weak AI, also called narrow AI, describes systems built to perform a specific task or bounded set of tasks. Spam filters, route planners, recommendation engines, medical image classifiers, speech recognizers, and game-playing engines are all weak AI. Crucially, 'weak' is not an insult about capability: AlphaGo plays Go better than any human, yet it cannot explain the game, transfer its skill to chess without retraining, or know that it is playing at all. The 'weak' label refers to the absence of any claim that the system understands, only that it behaves usefully. Emphasize to students that essentially every commercially deployed AI system today is narrow AI.</a:t>
            </a:r>
          </a:p>
        </p:txBody>
      </p:sp>
    </p:spTree>
  </p:cSld>
  <p:clrMapOvr>
    <a:masterClrMapping/>
  </p:clrMapOvr>
</p:notes>
</file>

<file path=ppt/notesSlides/notesSlide2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Strong AI, or artificial general intelligence, describes a hypothetical system possessing general intelligence comparable to a human's: the ability to learn, reason, and adapt across arbitrary domains rather than a single trained task. Stronger versions of the claim add genuine understanding and perhaps consciousness or subjective experience. No such system exists. Note the two senses students often conflate: a capability claim (breadth and flexibility of competence) and a metaphysical claim (there is something it is like to be this system, it really means what it says). Keep these separate throughout the course, since a system could in principle be broadly capable without being conscious.</a:t>
            </a:r>
          </a:p>
        </p:txBody>
      </p:sp>
    </p:spTree>
  </p:cSld>
  <p:clrMapOvr>
    <a:masterClrMapping/>
  </p:clrMapOvr>
</p:notes>
</file>

<file path=ppt/notesSlides/notesSlide2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strong/weak divide is not merely a technical taxonomy; it asks whether running the right program is sufficient for having a mind. John Searle's Chinese Room argument, which coined the strong/weak terminology in 1980, imagines a person in a room following English rules to manipulate Chinese symbols convincingly without understanding Chinese; Searle argues syntax never yields semantics. Critics reply that the whole system, not the person, understands. However you land, the answer matters practically: whether a machine can be blamed, whether it deserves moral consideration, and how much we should trust fluent-sounding output all hinge on whether behavior implies comprehension.</a:t>
            </a:r>
          </a:p>
        </p:txBody>
      </p:sp>
    </p:spTree>
  </p:cSld>
  <p:clrMapOvr>
    <a:masterClrMapping/>
  </p:clrMapOvr>
</p:notes>
</file>

<file path=ppt/notesSlides/notesSlide2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Contemporary large-scale machine learning models write code, summarize law, and pass professional exams, which makes the weak label feel strained. Yet their generality is statistical rather than conceptual: competence emerges from correlations over enormous training corpora, not from a grounded model of the world. Evidence includes confident fabrication, sensitivity to prompt phrasing, failures on simple out-of-distribution reasoning, and absence of persistent goals or self-directed learning. Classification criterion for students: ask whether the system reliably transfers learned structure to genuinely novel domains without retraining. By that criterion, today's systems remain narrow, albeit remarkably wide-ranging narrow systems.</a:t>
            </a:r>
          </a:p>
        </p:txBody>
      </p:sp>
    </p:spTree>
  </p:cSld>
  <p:clrMapOvr>
    <a:masterClrMapping/>
  </p:clrMapOvr>
</p:notes>
</file>

<file path=ppt/notesSlides/notesSlide2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Because modern systems sit awkwardly between the classic categories, many researchers prefer a continuum of generality. Place systems along dimensions such as the breadth of tasks handled, the ability to transfer without retraining, autonomy in setting subgoals, robustness under distribution shift, and grounding in the world. A thermostat, a chess engine, a self-driving stack, and a multimodal foundation model then occupy increasingly general positions without anyone having to declare AGI achieved. This framing keeps claims proportionate, supports measurable benchmarks, and discourages both dismissive and hype-driven descriptions of progress.</a:t>
            </a:r>
          </a:p>
        </p:txBody>
      </p:sp>
    </p:spTree>
  </p:cSld>
  <p:clrMapOvr>
    <a:masterClrMapping/>
  </p:clrMapOvr>
</p:notes>
</file>

<file path=ppt/notesSlides/notesSlide2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summarize: weak AI names the task-specific systems that constitute all deployed AI today; strong AI names a hypothetical general, understanding machine. The distinction is philosophically loaded because it asks whether symbol manipulation can constitute thought, with consequences for trust, moral status, and accountability. Current large models blur but do not cross the line, since their generality is statistical rather than conceptual. Treating generality as a spectrum lets us describe progress honestly. For the next session, be ready to classify three named systems using these criteria.</a:t>
            </a:r>
          </a:p>
        </p:txBody>
      </p:sp>
    </p:spTree>
  </p:cSld>
  <p:clrMapOvr>
    <a:masterClrMapping/>
  </p:clrMapOvr>
</p:notes>
</file>

<file path=ppt/notesSlides/notesSlide3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AI's history not as steady progress but as a series of boom-and-bust cycles. We will look at the first wave of optimism after 1956, the first AI winter of 1974-1980, the expert systems boom and second winter of 1980-1993, the statistical renewal driven by data and compute, and the practical lessons these cycles offer for evaluating today's claims.</a:t>
            </a:r>
          </a:p>
        </p:txBody>
      </p:sp>
    </p:spTree>
  </p:cSld>
  <p:clrMapOvr>
    <a:masterClrMapping/>
  </p:clrMapOvr>
</p:notes>
</file>

<file path=ppt/notesSlides/notesSlide3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Introduce the cycle model: a genuine technical breakthrough generates excitement; researchers and media extrapolate far beyond what the method can do; funders invest heavily; results fail to match promises; money and prestige evaporate. The term 'AI winter' was coined by analogy with nuclear winter at an AAAI meeting in 1984, when researchers who had lived through the first winter warned another was coming. Note that research never stopped during winters — it continued quietly under other names such as informatics, machine learning, or knowledge-based systems. This pattern explains why the field repeatedly rebrands itself.</a:t>
            </a:r>
          </a:p>
        </p:txBody>
      </p:sp>
    </p:spTree>
  </p:cSld>
  <p:clrMapOvr>
    <a:masterClrMapping/>
  </p:clrMapOvr>
</p:notes>
</file>

<file path=ppt/notesSlides/notesSlide3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1956 Dartmouth Summer Research Project, organised by McCarthy, Minsky, Rochester and Shannon, gave the field its name. Early successes were real: Newell and Simon's Logic Theorist proved theorems from Principia Mathematica; Samuel's checkers program learned to beat its author; Winograd's SHRDLU manipulated a blocks world with natural language. Leading figures made bold claims — Herbert Simon said in 1965 that machines would be capable of any work a man can do within twenty years; Minsky claimed in 1970 that a machine with general human intelligence was three to eight years away. Funding agencies, especially ARPA/DARPA, gave block grants with few deliverables attached. Crucially, these successes worked on toy problems; they did not scale to real-world complexity.</a:t>
            </a:r>
          </a:p>
        </p:txBody>
      </p:sp>
    </p:spTree>
  </p:cSld>
  <p:clrMapOvr>
    <a:masterClrMapping/>
  </p:clrMapOvr>
</p:notes>
</file>

<file path=ppt/notesSlides/notesSlide3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Technical causes: intractability — problems that worked on small examples exploded combinatorially at realistic scale; lack of commonsense knowledge; Minsky and Papert's Perceptrons (1969) discouraged neural network research. Economic and political causes: the 1966 ALPAC report killed machine translation funding; Sir James Lighthill's 1973 report to the UK Science Research Council concluded AI had failed to deliver on its grand objectives, leading to near-elimination of UK AI funding outside Edinburgh and Essex; the 1969 Mansfield Amendment required DARPA to fund mission-oriented work, and DARPA cancelled Speech Understanding Research in 1974. Hardware was also a hard limit: machines of the era had tiny memories by modern standards. Research continued at reduced scale and visibility.</a:t>
            </a:r>
          </a:p>
        </p:txBody>
      </p:sp>
    </p:spTree>
  </p:cSld>
  <p:clrMapOvr>
    <a:masterClrMapping/>
  </p:clrMapOvr>
</p:notes>
</file>

<file path=ppt/notesSlides/notesSlide3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Expert systems such as MYCIN (medical diagnosis), DENDRAL (chemistry) and especially DEC's XCON (configuring VAX orders) delivered measurable commercial value, and by the mid-1980s an industry worth over a billion dollars had formed around them, including specialised LISP machine hardware from Symbolics and LMI. Japan's Fifth Generation Computer Project (1982) triggered defensive funding: DARPA's Strategic Computing Initiative and the UK's Alvey programme. The collapse came from several directions: knowledge acquisition was a bottleneck requiring expensive experts; rule bases became brittle at the edges of their domain and failed ungracefully; maintenance costs ballooned as rules interacted; and general-purpose workstations from Sun and Apple undercut LISP machines, destroying that hardware market in 1987. DARPA's new leadership concluded AI was not the next wave; the Fifth Generation project ended in 1992 without meeting its goals.</a:t>
            </a:r>
          </a:p>
        </p:txBody>
      </p:sp>
    </p:spTree>
  </p:cSld>
  <p:clrMapOvr>
    <a:masterClrMapping/>
  </p:clrMapOvr>
</p:notes>
</file>

<file path=ppt/notesSlides/notesSlide3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From the 1990s, AI recovered by changing method rather than ambition. Instead of asking experts to articulate rules, systems induced patterns from large datasets — probabilistic and statistical methods, Bayesian networks, hidden Markov models in speech, and later deep neural networks. Three enabling forces converged: (1) data, from the web, digitised records and labelled sets such as ImageNet; (2) compute, from steadily cheaper processors and then GPUs repurposed for parallel matrix maths, plus cloud infrastructure; (3) algorithmic advances, including practical backpropagation, convolutional networks, and the 2017 transformer architecture. Note the field also rebranded itself during this period as machine learning and data science, avoiding the tainted 'AI' label. Milestones: Deep Blue beating Kasparov in 1997, AlexNet's ImageNet win in 2012, AlphaGo in 2016, and the large language models of the 2020s.</a:t>
            </a:r>
          </a:p>
        </p:txBody>
      </p:sp>
    </p:spTree>
  </p:cSld>
  <p:clrMapOvr>
    <a:masterClrMapping/>
  </p:clrMapOvr>
</p:notes>
</file>

<file path=ppt/notesSlides/notesSlide3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Summarise: AI has moved through optimism (1956-73), the first winter (1974-80), the expert systems boom and second winter (1980-93), and a data-driven renewal. The recurring causes are technical — scaling limits, brittleness, missing commonsense — and economic — speculative investment, defensive national programmes, and reliance on narrow hardware markets. Practical guidance for students and future professionals: ask what exactly was demonstrated and on what data; ask about maintenance and total cost of ownership, the lesson of expert systems; be sceptical of timeline claims for general intelligence; and remember that winters did not end research, they ended funding and attention. Recognising warning signs protects both research programmes and organisational investment. Invite discussion: are current large-model expectations sustainable, or are we near another correction?</a:t>
            </a:r>
          </a:p>
        </p:txBody>
      </p:sp>
    </p:spTree>
  </p:cSld>
  <p:clrMapOvr>
    <a:masterClrMapping/>
  </p:clrMapOvr>
</p:notes>
</file>

<file path=ppt/notesSlides/notesSlide3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This session surveys AI's modern era: the shift from hand-coded expert systems to statistical machine learning, the deep learning revolution after 2012, the three enablers that made it possible, the landmark milestones that captured public attention, the arrival of foundation models and generative AI, and the research directions driving the field today. Our aim is a clear map of how we got here and where things are heading, not a technical deep dive into individual algorithms.</a:t>
            </a:r>
          </a:p>
        </p:txBody>
      </p:sp>
    </p:spTree>
  </p:cSld>
  <p:clrMapOvr>
    <a:masterClrMapping/>
  </p:clrMapOvr>
</p:notes>
</file>

<file path=ppt/notesSlides/notesSlide3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Through the 1970s and 1980s, AI was dominated by symbolic, rule-based expert systems such as MYCIN and XCON. Knowledge engineers interviewed specialists and hand-coded thousands of rules. These systems worked in narrow domains but were brittle, expensive to maintain, and unable to handle uncertainty or inputs outside their rule set. The turning point of AI's modern era was the shift to statistical learning: rather than telling the machine what to conclude, we show it examples and let it infer the mapping. Decision trees, support vector machines, and probabilistic graphical models dominated the 1990s and 2000s, supported by growing digital datasets and a stronger emphasis on empirical benchmarking.</a:t>
            </a:r>
          </a:p>
        </p:txBody>
      </p:sp>
    </p:spTree>
  </p:cSld>
  <p:clrMapOvr>
    <a:masterClrMapping/>
  </p:clrMapOvr>
</p:notes>
</file>

<file path=ppt/notesSlides/notesSlide3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Deep learning means neural networks with many layers, each building more abstract features from the layer below — edges, then textures, then object parts, then objects. The symbolic moment was 2012, when AlexNet cut the ImageNet classification error dramatically using GPUs, ReLU activations, and dropout. Within a few years, deep networks displaced hand-crafted features in computer vision, drove speech recognition error rates down sharply, and transformed machine translation. The key practical change was end-to-end learning: instead of engineers designing features, the network learns representations directly from raw data. The 2017 Transformer architecture then generalised this success to sequences and underpins nearly everything that followed.</a:t>
            </a:r>
          </a:p>
        </p:txBody>
      </p:sp>
    </p:spTree>
  </p:cSld>
  <p:clrMapOvr>
    <a:masterClrMapping/>
  </p:clrMapOvr>
</p:notes>
</file>

<file path=ppt/notesSlides/notesSlide4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No single ingredient explains modern AI. Data: digitisation and the web produced enormous corpora, plus curated benchmarks such as ImageNet that let progress be measured. Compute: graphics processors, later specialised accelerators like TPUs, delivered orders-of-magnitude more training throughput at falling cost per operation. Algorithms: backpropagation was old, but practical advances — ReLU, dropout, batch normalisation, Adam, residual connections, and above all attention and the Transformer — made very deep models trainable and parallelisable. Emphasise the convergence point: neural networks existed in the 1980s but lacked data and compute; big data without good architectures would have stalled too. Scaling laws later formalised how performance improves predictably when all three grow together.</a:t>
            </a:r>
          </a:p>
        </p:txBody>
      </p:sp>
    </p:spTree>
  </p:cSld>
  <p:clrMapOvr>
    <a:masterClrMapping/>
  </p:clrMapOvr>
</p:notes>
</file>

<file path=ppt/notesSlides/notesSlide4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Each milestone signalled that a domain previously dominated by humans had been matched or surpassed. Deep Blue (1997) won largely through search and hand-tuned evaluation — impressive engineering rather than learning. Watson (2011) showed statistical natural language question answering at speed. AlphaGo (2016) combined deep networks with Monte Carlo tree search and reinforcement learning to conquer a game long thought too intuitive for machines; AlphaZero then learned from self-play alone. AlphaFold (2020) solved protein structure prediction, a fifty-year scientific grand challenge, showing real scientific impact. ChatGPT's release in late 2022 and GPT-4 in 2023 brought general-purpose language capability to hundreds of millions of users. Note the pattern: each milestone was narrow, yet each widened public expectations.</a:t>
            </a:r>
          </a:p>
        </p:txBody>
      </p:sp>
    </p:spTree>
  </p:cSld>
  <p:clrMapOvr>
    <a:masterClrMapping/>
  </p:clrMapOvr>
</p:notes>
</file>

<file path=ppt/notesSlides/notesSlide4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foundation model is trained once on very broad data and then adapted — via fine-tuning, prompting, or retrieval — to many downstream tasks. This reverses the old paradigm of building a bespoke model per task. Examples include GPT and Claude for language, Stable Diffusion and DALL-E for images, and Codex-style models for programming. Reinforcement learning from human feedback aligns raw pre-trained models with useful, safe behaviour. Generative quality has reshaped expectations in writing, design, software development, and customer service. Also flag the limitations that come with this: hallucination, training-data bias, copyright and provenance disputes, and very high training cost concentrated in a few organisations.</a:t>
            </a:r>
          </a:p>
        </p:txBody>
      </p:sp>
    </p:spTree>
  </p:cSld>
  <p:clrMapOvr>
    <a:masterClrMapping/>
  </p:clrMapOvr>
</p:notes>
</file>

<file path=ppt/notesSlides/notesSlide4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Close by summarising the arc: rules gave way to statistical learning; deep learning delivered a step change from 2012; data, compute, and algorithms converged to enable it; milestones from Deep Blue to AlphaFold marked the climb; foundation models now define the frontier. Current directions focus on making AI efficient (small and open-weight models, quantisation, distillation, on-device inference), reliable (retrieval-augmented generation, rigorous evaluation, interpretability, uncertainty estimates), and integrated (agents that call tools, multimodal interfaces, workflow automation). Alongside this sits governance — the EU AI Act, national safety institutes, and sustained work on bias, transparency, and accountability. Invite students to ask which direction they think matters most and why.</a:t>
            </a:r>
          </a:p>
        </p:txBody>
      </p:sp>
    </p:spTree>
  </p:cSld>
  <p:clrMapOvr>
    <a:masterClrMapping/>
  </p:clrMapOvr>
</p:notes>
</file>

<file path=ppt/notesSlides/notesSlide4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survey where artificial intelligence actually operates in the world, not just in theory. We will look at five major sectors — healthcare, finance and business, transportation and robotics, education, and creative or generative work — and then step back to identify the strengths and limitations that recur across all of them. The goal is to build realistic expectations: to see both the genuine practical value AI delivers and the places where deployments disappoint or cause harm. Keep in mind throughout that every application domain carries its own accountability, bias, privacy, and transparency questions.</a:t>
            </a:r>
          </a:p>
        </p:txBody>
      </p:sp>
    </p:spTree>
  </p:cSld>
  <p:clrMapOvr>
    <a:masterClrMapping/>
  </p:clrMapOvr>
</p:notes>
</file>

<file path=ppt/notesSlides/notesSlide4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Healthcare is the most visible and consequential applied-AI domain. Convolutional models now match or exceed specialist performance on narrow imaging tasks such as detecting diabetic retinopathy or flagging suspicious lung nodules. In drug discovery, systems like AlphaFold predict protein structures that once required years of laboratory work. Large language models are reducing clinician paperwork through automated note-taking. But the stakes are high: when a model misses a tumour, who is accountable — the clinician, the hospital, or the vendor? Models trained on one population often degrade on another, and opaque reasoning makes it hard for a doctor to know when to override. Trust, regulatory approval, and clear liability remain unresolved.</a:t>
            </a:r>
          </a:p>
        </p:txBody>
      </p:sp>
    </p:spTree>
  </p:cSld>
  <p:clrMapOvr>
    <a:masterClrMapping/>
  </p:clrMapOvr>
</p:notes>
</file>

<file path=ppt/notesSlides/notesSlide4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Finance adopted statistical and machine learning methods decades before the current boom, because banks held clean structured records and every percentage point of accuracy converted directly into money. Fraud detection is a classic anomaly-detection problem operating on millions of transactions per second. Credit scoring and underwriting models decide who receives loans and at what price; algorithmic and high-frequency trading execute strategies faster than humans can react. Businesses also use AI for demand forecasting, supply-chain optimisation, and customer service. The central ethical issue is that credit models can encode historical discrimination through proxy variables like postcode, and applicants rarely receive a meaningful explanation for rejection — which is why regulators increasingly demand transparency and auditability.</a:t>
            </a:r>
          </a:p>
        </p:txBody>
      </p:sp>
    </p:spTree>
  </p:cSld>
  <p:clrMapOvr>
    <a:masterClrMapping/>
  </p:clrMapOvr>
</p:notes>
</file>

<file path=ppt/notesSlides/notesSlide4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Here AI leaves the screen and acts in the physical world, where mistakes have immediate physical consequences. An autonomous vehicle must fuse camera, radar, and lidar input into a world model, predict what other agents will do, plan a trajectory, and execute control — all in real time, all under uncertainty. Robotics illustrates Moravec's paradox: tasks trivial for a toddler, like grasping an unfamiliar object, remain hard, while chess is easy. Warehouse and surgical robots succeed because their environments are constrained and structured. Open-road driving is not. This is the clearest example of the gap between an impressive demonstration and a dependable deployment: performance on the long tail of rare edge cases, not average performance, determines safety.</a:t>
            </a:r>
          </a:p>
        </p:txBody>
      </p:sp>
    </p:spTree>
  </p:cSld>
  <p:clrMapOvr>
    <a:masterClrMapping/>
  </p:clrMapOvr>
</p:notes>
</file>

<file path=ppt/notesSlides/notesSlide4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Educational AI has a long lineage — intelligent tutoring systems such as SCHOLAR and later cognitive tutors emerged from 1970s and 1980s AI research on student modelling. The modern promise is the same: approximate one-to-one tutoring at scale by modelling what a learner knows and adapting the next problem accordingly. Generative models now support drafting lesson materials, generating practice questions, and giving instant feedback, freeing teacher time from routine marking. The risks are real: classroom monitoring tools raise privacy and surveillance concerns about minors' data; automated essay scoring can be gamed and can penalise non-standard English; and unequal device or connectivity access can widen rather than narrow attainment gaps.</a:t>
            </a:r>
          </a:p>
        </p:txBody>
      </p:sp>
    </p:spTree>
  </p:cSld>
  <p:clrMapOvr>
    <a:masterClrMapping/>
  </p:clrMapOvr>
</p:notes>
</file>

<file path=ppt/notesSlides/notesSlide4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Generative models extended AI into domains long considered uniquely human. Diffusion models produce images from text prompts; large language models draft prose and code; music systems compose in learned styles. More than any other domain, this shift transformed public perception — AI stopped being a back-office classifier and became something people interact with daily. In practice these are powerful ideation and drafting tools that compress the cost of a first attempt. But they are trained on copyrighted human work without consent in many cases, raising live legal questions about attribution and compensation. And fluency is not accuracy: models hallucinate citations and facts with complete confidence, so human verification remains essential.</a:t>
            </a:r>
          </a:p>
        </p:txBody>
      </p:sp>
    </p:spTree>
  </p:cSld>
  <p:clrMapOvr>
    <a:masterClrMapping/>
  </p:clrMapOvr>
</p:notes>
</file>

<file path=ppt/notesSlides/notesSlide5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Across every sector the same profile appears. AI excels at high-volume pattern recognition, operates consistently without fatigue, and scales far beyond human capacity. It struggles outside its training distribution, inherits and amplifies bias in its data, cannot explain its reasoning in human terms, and lacks genuine causal understanding or common sense. Consequently the recurring ethical risks — bias, transparency, privacy, accountability — are not sector-specific quirks but structural features of the technology. The practical lesson is to set realistic expectations: deploy AI where errors are recoverable and a human remains meaningfully in the loop, and treat impressive demonstrations as a starting point for evaluation rather than proof of readiness.</a:t>
            </a:r>
          </a:p>
        </p:txBody>
      </p:sp>
    </p:spTree>
  </p:cSld>
  <p:clrMapOvr>
    <a:masterClrMapping/>
  </p:clrMapOvr>
</p:notes>
</file>

<file path=ppt/notesSlides/notesSlide5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examine the ethical dimensions of building and deploying artificial intelligence. We will trace why ethics became central to AI, then work through six recurring concerns: bias and fairness, transparency and explainability, privacy and data governance, accountability, workforce and societal impact, and the governance frameworks that translate these values into operational rules. The goal is not to memorise a code of conduct but to develop a habit of asking who is affected, how, and who answers for it.</a:t>
            </a:r>
          </a:p>
        </p:txBody>
      </p:sp>
    </p:spTree>
  </p:cSld>
  <p:clrMapOvr>
    <a:masterClrMapping/>
  </p:clrMapOvr>
</p:notes>
</file>

<file path=ppt/notesSlides/notesSlide5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For decades AI lived mostly in research settings where mistakes were academic. Once models began screening job applicants, scoring loan applications, triaging patients, and guiding policing, their outputs carried real consequences for people's livelihoods, health, and liberty. Scale is the key difference: a biased human recruiter affects hundreds of candidates; a biased model can affect millions identically. High-profile failures — discriminatory recruiting tools, flawed facial recognition arrests, unequal healthcare risk scores — moved ethics from a philosophical footnote to a core engineering and business requirement, and pushed regulators to act.</a:t>
            </a:r>
          </a:p>
        </p:txBody>
      </p:sp>
    </p:spTree>
  </p:cSld>
  <p:clrMapOvr>
    <a:masterClrMapping/>
  </p:clrMapOvr>
</p:notes>
</file>

<file path=ppt/notesSlides/notesSlide5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Bias has several entry points. Training data may under-represent some groups; labels may reflect biased human judgement; proxy variables like postcode can smuggle in race or class; and objective functions optimise averages that hide subgroup harm. Fairness is the effort to ensure systems do not systematically disadvantage people by gender, race, age, disability, or other protected attributes. Importantly, fairness is contested: demographic parity, equalised odds, and calibration are mathematically incompatible in most realistic settings, so teams must justify a choice rather than claim neutrality. Practical mitigation includes representative data collection, bias audits, disaggregated accuracy reporting, and human review of high-stakes decisions.</a:t>
            </a:r>
          </a:p>
        </p:txBody>
      </p:sp>
    </p:spTree>
  </p:cSld>
  <p:clrMapOvr>
    <a:masterClrMapping/>
  </p:clrMapOvr>
</p:notes>
</file>

<file path=ppt/notesSlides/notesSlide5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Deep networks and large ensembles achieve strong accuracy but resist inspection. Distinguish two ideas: transparency is organisational disclosure — what data, what model, what purpose, what limitations, often documented in model cards or datasheets. Explainability is technical — giving a reason for a particular output, using tools like feature attribution, SHAP, LIME, or counterfactual explanations. There is often a trade-off with performance, and regulated domains increasingly demand a meaningful explanation. Privacy raises a parallel tension: better models generally want more data, while individuals have rights over their information. Responsible data governance covers lawful basis and consent, minimisation, secure storage, purpose limitation, retention limits, and re-identification risk. Techniques such as anonymisation, differential privacy, and federated learning reduce, but do not eliminate, exposure.</a:t>
            </a:r>
          </a:p>
        </p:txBody>
      </p:sp>
    </p:spTree>
  </p:cSld>
  <p:clrMapOvr>
    <a:masterClrMapping/>
  </p:clrMapOvr>
</p:notes>
</file>

<file path=ppt/notesSlides/notesSlide5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an AI system harms someone, responsibility is diffuse: the data vendor, the model developer, the integrator, and the deploying organisation each contributed. Accountability frameworks aim to leave a clear answer to 'who is responsible?' through documented ownership, logging and audit trails, algorithmic impact assessments before deployment, meaningful human oversight rather than rubber-stamping, and accessible channels for appeal and redress. On the workforce side, evidence suggests AI automates tasks more than whole occupations — displacing routine work, augmenting skilled work, and creating roles such as data curation, model auditing, and prompt and oversight design. The ethical question is distributional: who bears the adjustment costs, which regions and skill levels benefit, and what reskilling and transition support employers and governments provide.</a:t>
            </a:r>
          </a:p>
        </p:txBody>
      </p:sp>
    </p:spTree>
  </p:cSld>
  <p:clrMapOvr>
    <a:masterClrMapping/>
  </p:clrMapOvr>
</p:notes>
</file>

<file path=ppt/notesSlides/notesSlide5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Principles alone do not change practice; governance frameworks convert them into procedures. The EU AI Act classifies systems by risk, banning some uses and imposing conformity assessment, documentation, and human oversight on high-risk applications. The US NIST AI Risk Management Framework offers a voluntary cycle — govern, map, measure, manage — for identifying and mitigating risk across the lifecycle. ISO/IEC 42001 provides a certifiable AI management system standard, and the OECD and UNESCO principles supply internationally agreed values. Inside organisations, responsible practice means ethics review boards, model documentation, pre-deployment impact assessment, ongoing monitoring for drift and disparate impact, and incident reporting.</a:t>
            </a:r>
          </a:p>
        </p:txBody>
      </p:sp>
    </p:spTree>
  </p:cSld>
  <p:clrMapOvr>
    <a:masterClrMapping/>
  </p:clrMapOvr>
</p:notes>
</file>

<file path=ppt/notesSlides/notesSlide5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close: ethics in AI is not an add-on applied after the model works. Each concern we covered has a technical, organisational, and social layer. Bias arises from data and design choices; transparency and explainability determine whether decisions can be contested; privacy governance sets limits on data use; accountability assigns responsibility when things go wrong; workforce impacts distribute gains and losses unevenly; and governance frameworks give all of this operational teeth. When you evaluate any proposed deployment, ask systematically: who could be harmed, how would we detect it, and who answers for it?</a:t>
            </a:r>
          </a:p>
        </p:txBody>
      </p:sp>
    </p:spTree>
  </p:cSld>
  <p:clrMapOvr>
    <a:masterClrMapping/>
  </p:clrMapOvr>
</p:notes>
</file>

<file path=ppt/notesSlides/notesSlide5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Close by mapping today's content to the module outcomes. Slide 3 delivers MO1 directly. Slide 4 delivers MO2. Slide 5 provides the capability criteria students need for MO3 classification exercises. MO4, on the AI winters of 1974-1980 and 1987-1993, and MO5, on bias, transparency, privacy, and accountability, are not covered in this presentation and will be treated in subsequent sessions; today's definitional vocabulary is the groundwork for both.</a:t>
            </a:r>
          </a:p>
        </p:txBody>
      </p:sp>
    </p:spTree>
  </p:cSld>
  <p:clrMapOvr>
    <a:masterClrMapping/>
  </p:clrMapOvr>
</p:notes>
</file>

<file path=ppt/notesSlides/notesSlide5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Clarify scope for students. This presentation directly supports MO2 by detailing Turing's imitation game as an operational test, and MO4 by analyzing the technical and economic causes of the 1974-1980 winter and noting the 1987-1993 expert-system collapse. It provides background but not full coverage for MO1 and MO3: the thinking/acting and human/rational axes, and the weak-versus-strong classification criteria, are treated in separate sessions, though the microworld brittleness discussed here foreshadows the narrow-AI concept. MO5, ethical risk evaluation, is not addressed here; ELIZA's user reactions can serve as a bridge to that later discussion.</a:t>
            </a:r>
          </a:p>
        </p:txBody>
      </p:sp>
    </p:spTree>
  </p:cSld>
  <p:clrMapOvr>
    <a:masterClrMapping/>
  </p:clrMapOvr>
</p:notes>
</file>

<file path=ppt/notesSlides/notesSlide6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deck is squarely aimed at MO2: students should be able to describe the three-party setup, the text-only channel, the questioning phase, and the statistical pass criterion. MO3 receives partial support: the capabilities implied by passing (NLP, knowledge representation, reasoning, learning, vision, robotics) and modern benchmarks give criteria for judging narrow versus general intelligence. MO1, MO4, and MO5 are covered in other sessions of the module — the four approaches to defining AI, the AI winters, and applied ethical risk evaluation respectively.</a:t>
            </a:r>
          </a:p>
        </p:txBody>
      </p:sp>
    </p:spTree>
  </p:cSld>
  <p:clrMapOvr>
    <a:masterClrMapping/>
  </p:clrMapOvr>
</p:notes>
</file>

<file path=ppt/notesSlides/notesSlide6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deck targets MO3 most directly: students leave with explicit criteria — task breadth, transfer, autonomy, robustness, grounding — for classifying contemporary systems as weak or strong. MO5 is only glanced at through the accountability and trust implications of the philosophical debate; a dedicated ethics session handles bias, transparency, and privacy in application domains. MO1, MO2, and MO4 belong to other sessions covering the four definitional approaches, the imitation game, and the AI winters respectively.</a:t>
            </a:r>
          </a:p>
        </p:txBody>
      </p:sp>
    </p:spTree>
  </p:cSld>
  <p:clrMapOvr>
    <a:masterClrMapping/>
  </p:clrMapOvr>
</p:notes>
</file>

<file path=ppt/notesSlides/notesSlide6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Clarify scope for students: this presentation is a focused historical analysis supporting MO4, examining the technical factors (combinatorial explosion, brittleness, knowledge acquisition bottleneck, hardware limits) and economic factors (Lighthill Report, Mansfield Amendment, DARPA redirection, LISP machine market collapse, Fifth Generation competition) behind the 1974-1980 and 1987-1993 winters. Outcomes MO1, MO2, MO3 and MO5 are covered in other sessions of the module.</a:t>
            </a:r>
          </a:p>
        </p:txBody>
      </p:sp>
    </p:spTree>
  </p:cSld>
  <p:clrMapOvr>
    <a:masterClrMapping/>
  </p:clrMapOvr>
</p:notes>
</file>

<file path=ppt/notesSlides/notesSlide6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Position this deck within the module. It mainly builds MO3 by giving concrete contemporary systems — AlphaGo, AlphaFold, GPT-4 — to classify as narrow or general using the module's capability criteria. It supports MO4 indirectly by explaining why rule-based expert systems were brittle and expensive, the technical conditions behind the second AI winter, though the economic analysis belongs to the dedicated history session. It seeds MO5 through discussion of hallucination, training-data bias, provenance, and emerging regulation. MO1 and MO2 are handled in the earlier definitions and Turing test sessions; students should connect those frameworks back to the systems surveyed today.</a:t>
            </a:r>
          </a:p>
        </p:txBody>
      </p:sp>
    </p:spTree>
  </p:cSld>
  <p:clrMapOvr>
    <a:masterClrMapping/>
  </p:clrMapOvr>
</p:notes>
</file>

<file path=ppt/notesSlides/notesSlide6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brief note on alignment. This presentation is a domain survey, so it maps most directly onto MO5: every sector slide identifies the bias, transparency, privacy, and accountability risks specific to that deployment context, giving you concrete material for evaluating a proposed system. MO3 receives partial support, since each example is a narrow system succeeding on a bounded task, which reinforces the weak-versus-strong distinction taught elsewhere. MO1, MO2, and MO4 — the definitional approaches, the imitation game, and the AI winters — are covered in other sessions of the module and are not addressed here.</a:t>
            </a:r>
          </a:p>
        </p:txBody>
      </p:sp>
    </p:spTree>
  </p:cSld>
  <p:clrMapOvr>
    <a:masterClrMapping/>
  </p:clrMapOvr>
</p:notes>
</file>

<file path=ppt/notesSlides/notesSlide6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presentation targets MO5 directly: students gain the vocabulary and analytical checklist needed to evaluate bias, transparency, privacy, and accountability risks in a proposed AI deployment within a specific domain such as hiring, lending, healthcare, or policing. MO1 through MO4 concern definitions of AI, the Turing test, narrow versus general intelligence, and the historical AI winters; those are covered in other sessions of the module and are not addressed here.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and Foundations of Artificial Intelligence</a:t>
            </a:r>
          </a:p>
        </p:txBody>
      </p:sp>
      <p:sp>
        <p:nvSpPr>
          <p:cNvPr id="3" name="Content Placeholder 2"/>
          <p:cNvSpPr>
            <a:spLocks noGrp="1"/>
          </p:cNvSpPr>
          <p:nvPr>
            <p:ph idx="1"/>
          </p:nvPr>
        </p:nvSpPr>
        <p:spPr/>
        <p:txBody>
          <a:bodyPr/>
          <a:lstStyle/>
          <a:p>
            <a:pPr algn="ctr">
              <a:buNone/>
            </a:pPr>
            <a:r>
              <a:rPr lang="en-US" dirty="0"/>
              <a:t>History and Foundations of Artificial Intelligence  ·  CAI4002 - Intro to AI</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Intelligence and Artificial Intelligence</a:t>
            </a:r>
          </a:p>
        </p:txBody>
      </p:sp>
      <p:sp>
        <p:nvSpPr>
          <p:cNvPr id="3" name="Content Placeholder 2"/>
          <p:cNvSpPr>
            <a:spLocks noGrp="1"/>
          </p:cNvSpPr>
          <p:nvPr>
            <p:ph idx="1"/>
          </p:nvPr>
        </p:nvSpPr>
        <p:spPr/>
        <p:txBody>
          <a:bodyPr/>
          <a:lstStyle/>
          <a:p>
            <a:pPr algn="ctr">
              <a:buNone/>
            </a:pPr>
            <a:r>
              <a:rPr lang="en-US" dirty="0"/>
              <a:t>How researchers define intelligence, and why those definitions shape the whole field.</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Do We Mean by Intelligence?</a:t>
            </a:r>
          </a:p>
        </p:txBody>
      </p:sp>
      <p:sp>
        <p:nvSpPr>
          <p:cNvPr id="3" name="Content Placeholder 2"/>
          <p:cNvSpPr>
            <a:spLocks noGrp="1"/>
          </p:cNvSpPr>
          <p:nvPr>
            <p:ph idx="1"/>
          </p:nvPr>
        </p:nvSpPr>
        <p:spPr/>
        <p:txBody>
          <a:bodyPr/>
          <a:lstStyle/>
          <a:p>
            <a:r>
              <a:rPr lang="en-US" dirty="0"/>
              <a:t>No single agreed definition exists across psychology or computer science</a:t>
            </a:r>
          </a:p>
          <a:p>
            <a:r>
              <a:rPr lang="en-US" dirty="0"/>
              <a:t>Usually described as a cluster of capabilities, not one trait</a:t>
            </a:r>
          </a:p>
          <a:p>
            <a:r>
              <a:rPr lang="en-US" dirty="0"/>
              <a:t>Common elements: learning, reasoning, adaptation, problem solving, goal pursuit</a:t>
            </a:r>
          </a:p>
          <a:p>
            <a:r>
              <a:rPr lang="en-US" dirty="0"/>
              <a:t>Ambiguity shapes how we build and evaluate intelligent machines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Classic Approaches to Defining AI</a:t>
            </a:r>
          </a:p>
        </p:txBody>
      </p:sp>
      <p:sp>
        <p:nvSpPr>
          <p:cNvPr id="3" name="Content Placeholder 2"/>
          <p:cNvSpPr>
            <a:spLocks noGrp="1"/>
          </p:cNvSpPr>
          <p:nvPr>
            <p:ph idx="1"/>
          </p:nvPr>
        </p:nvSpPr>
        <p:spPr/>
        <p:txBody>
          <a:bodyPr/>
          <a:lstStyle/>
          <a:p>
            <a:r>
              <a:rPr lang="en-US" dirty="0"/>
              <a:t>Two axes: thinking versus acting; human performance versus rationality</a:t>
            </a:r>
          </a:p>
          <a:p>
            <a:r>
              <a:rPr lang="en-US" dirty="0"/>
              <a:t>Thinking humanly: cognitive modelling of actual human thought</a:t>
            </a:r>
          </a:p>
          <a:p>
            <a:r>
              <a:rPr lang="en-US" dirty="0"/>
              <a:t>Thinking rationally: logic and formal laws of correct inference</a:t>
            </a:r>
          </a:p>
          <a:p>
            <a:r>
              <a:rPr lang="en-US" dirty="0"/>
              <a:t>Acting humanly: the Turing Test benchmark of indistinguishable behaviour</a:t>
            </a:r>
          </a:p>
          <a:p>
            <a:r>
              <a:rPr lang="en-US" dirty="0"/>
              <a:t>Acting rationally: agents that do the right thing — modern mainstream</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as an Operational Definition</a:t>
            </a:r>
          </a:p>
        </p:txBody>
      </p:sp>
      <p:sp>
        <p:nvSpPr>
          <p:cNvPr id="3" name="Content Placeholder 2"/>
          <p:cNvSpPr>
            <a:spLocks noGrp="1"/>
          </p:cNvSpPr>
          <p:nvPr>
            <p:ph idx="1"/>
          </p:nvPr>
        </p:nvSpPr>
        <p:spPr/>
        <p:txBody>
          <a:bodyPr/>
          <a:lstStyle/>
          <a:p>
            <a:r>
              <a:rPr lang="en-US" dirty="0"/>
              <a:t>Turing (1950) replaced 'can machines think?' with a behavioural test</a:t>
            </a:r>
          </a:p>
          <a:p>
            <a:r>
              <a:rPr lang="en-US" dirty="0"/>
              <a:t>Imitation game: judge interrogates a human and machine via text</a:t>
            </a:r>
          </a:p>
          <a:p>
            <a:r>
              <a:rPr lang="en-US" dirty="0"/>
              <a:t>Machine passes if the judge cannot reliably tell them apart</a:t>
            </a:r>
          </a:p>
          <a:p>
            <a:r>
              <a:rPr lang="en-US" dirty="0"/>
              <a:t>Strengths: measurable, behaviour-focused; ignores unobservable inner states</a:t>
            </a:r>
          </a:p>
          <a:p>
            <a:r>
              <a:rPr lang="en-US" dirty="0"/>
              <a:t>Criticisms: rewards deception, tests human-likeness rather than capability</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AI versus Weak AI</a:t>
            </a:r>
          </a:p>
        </p:txBody>
      </p:sp>
      <p:sp>
        <p:nvSpPr>
          <p:cNvPr id="3" name="Content Placeholder 2"/>
          <p:cNvSpPr>
            <a:spLocks noGrp="1"/>
          </p:cNvSpPr>
          <p:nvPr>
            <p:ph idx="1"/>
          </p:nvPr>
        </p:nvSpPr>
        <p:spPr/>
        <p:txBody>
          <a:bodyPr/>
          <a:lstStyle/>
          <a:p>
            <a:r>
              <a:rPr lang="en-US" dirty="0"/>
              <a:t>Weak (narrow) AI: simulates intelligence within specific, bounded tasks</a:t>
            </a:r>
          </a:p>
          <a:p>
            <a:r>
              <a:rPr lang="en-US" dirty="0"/>
              <a:t>Strong AI: genuinely possesses mind, understanding, and conscious experience</a:t>
            </a:r>
          </a:p>
          <a:p>
            <a:r>
              <a:rPr lang="en-US" dirty="0"/>
              <a:t>Searle's Chinese Room argues symbol manipulation is not understanding</a:t>
            </a:r>
          </a:p>
          <a:p>
            <a:r>
              <a:rPr lang="en-US" dirty="0"/>
              <a:t>All deployed systems today are narrow, however impressive</a:t>
            </a:r>
          </a:p>
          <a:p>
            <a:r>
              <a:rPr lang="en-US" dirty="0"/>
              <a:t>Related term: artificial general intelligence across diverse unfamiliar domains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 Agents and the Working Vocabulary</a:t>
            </a:r>
          </a:p>
        </p:txBody>
      </p:sp>
      <p:sp>
        <p:nvSpPr>
          <p:cNvPr id="3" name="Content Placeholder 2"/>
          <p:cNvSpPr>
            <a:spLocks noGrp="1"/>
          </p:cNvSpPr>
          <p:nvPr>
            <p:ph idx="1"/>
          </p:nvPr>
        </p:nvSpPr>
        <p:spPr/>
        <p:txBody>
          <a:bodyPr/>
          <a:lstStyle/>
          <a:p>
            <a:r>
              <a:rPr lang="en-US" dirty="0"/>
              <a:t>Agent: perceives an environment through sensors, acts through actuators</a:t>
            </a:r>
          </a:p>
          <a:p>
            <a:r>
              <a:rPr lang="en-US" dirty="0"/>
              <a:t>Percepts, actions, agent function, and performance measure define behaviour</a:t>
            </a:r>
          </a:p>
          <a:p>
            <a:r>
              <a:rPr lang="en-US" dirty="0"/>
              <a:t>Rational agent maximises expected performance given evidence and knowledge</a:t>
            </a:r>
          </a:p>
          <a:p>
            <a:r>
              <a:rPr lang="en-US" dirty="0"/>
              <a:t>Environments vary: observable, deterministic, static, discrete, single- or multi-agent</a:t>
            </a:r>
          </a:p>
          <a:p>
            <a:r>
              <a:rPr lang="en-US" dirty="0"/>
              <a:t>Bounded rationality acknowledges limited time and computational resources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Definitions Matter — and Summary</a:t>
            </a:r>
          </a:p>
        </p:txBody>
      </p:sp>
      <p:sp>
        <p:nvSpPr>
          <p:cNvPr id="3" name="Content Placeholder 2"/>
          <p:cNvSpPr>
            <a:spLocks noGrp="1"/>
          </p:cNvSpPr>
          <p:nvPr>
            <p:ph idx="1"/>
          </p:nvPr>
        </p:nvSpPr>
        <p:spPr/>
        <p:txBody>
          <a:bodyPr/>
          <a:lstStyle/>
          <a:p>
            <a:r>
              <a:rPr lang="en-US" dirty="0"/>
              <a:t>Definitions determine what counts as progress and how systems are evaluated</a:t>
            </a:r>
          </a:p>
          <a:p>
            <a:r>
              <a:rPr lang="en-US" dirty="0"/>
              <a:t>Vague definitions fuel hype, misplaced fear, and poor policy</a:t>
            </a:r>
          </a:p>
          <a:p>
            <a:r>
              <a:rPr lang="en-US" dirty="0"/>
              <a:t>Intelligence is a contested cluster of capabilities, not one property</a:t>
            </a:r>
          </a:p>
          <a:p>
            <a:r>
              <a:rPr lang="en-US" dirty="0"/>
              <a:t>Four framings arise from thinking/acting and human/rational axes</a:t>
            </a:r>
          </a:p>
          <a:p>
            <a:r>
              <a:rPr lang="en-US" dirty="0"/>
              <a:t>Turing Test, strong/weak distinction, and agent vocabulary anchor the field</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Origins and Early History of AI</a:t>
            </a:r>
          </a:p>
        </p:txBody>
      </p:sp>
      <p:sp>
        <p:nvSpPr>
          <p:cNvPr id="3" name="Content Placeholder 2"/>
          <p:cNvSpPr>
            <a:spLocks noGrp="1"/>
          </p:cNvSpPr>
          <p:nvPr>
            <p:ph idx="1"/>
          </p:nvPr>
        </p:nvSpPr>
        <p:spPr/>
        <p:txBody>
          <a:bodyPr/>
          <a:lstStyle/>
          <a:p>
            <a:pPr algn="ctr">
              <a:buNone/>
            </a:pPr>
            <a:r>
              <a:rPr lang="en-US" dirty="0"/>
              <a:t>Tracing AI from ancient logic to the symbolic era's rise and retreat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Philosophical and Mathematical Roots</a:t>
            </a:r>
          </a:p>
        </p:txBody>
      </p:sp>
      <p:sp>
        <p:nvSpPr>
          <p:cNvPr id="3" name="Content Placeholder 2"/>
          <p:cNvSpPr>
            <a:spLocks noGrp="1"/>
          </p:cNvSpPr>
          <p:nvPr>
            <p:ph idx="1"/>
          </p:nvPr>
        </p:nvSpPr>
        <p:spPr/>
        <p:txBody>
          <a:bodyPr/>
          <a:lstStyle/>
          <a:p>
            <a:r>
              <a:rPr lang="en-US" dirty="0"/>
              <a:t>Aristotle's syllogisms: first formal rules for valid reasoning</a:t>
            </a:r>
          </a:p>
          <a:p>
            <a:r>
              <a:rPr lang="en-US" dirty="0"/>
              <a:t>Hobbes and Leibniz imagined reasoning as calculation</a:t>
            </a:r>
          </a:p>
          <a:p>
            <a:r>
              <a:rPr lang="en-US" dirty="0"/>
              <a:t>Boole and Frege formalized logic algebraically</a:t>
            </a:r>
          </a:p>
          <a:p>
            <a:r>
              <a:rPr lang="en-US" dirty="0"/>
              <a:t>Gödel and Church defined limits of formal systems</a:t>
            </a:r>
          </a:p>
          <a:p>
            <a:r>
              <a:rPr lang="en-US" dirty="0"/>
              <a:t>Mechanical calculators hinted at automated thought</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Turing and the Foundations of Machine Intelligence</a:t>
            </a:r>
          </a:p>
        </p:txBody>
      </p:sp>
      <p:sp>
        <p:nvSpPr>
          <p:cNvPr id="3" name="Content Placeholder 2"/>
          <p:cNvSpPr>
            <a:spLocks noGrp="1"/>
          </p:cNvSpPr>
          <p:nvPr>
            <p:ph idx="1"/>
          </p:nvPr>
        </p:nvSpPr>
        <p:spPr/>
        <p:txBody>
          <a:bodyPr/>
          <a:lstStyle/>
          <a:p>
            <a:r>
              <a:rPr lang="en-US" dirty="0"/>
              <a:t>1936: Turing machine defines computation and computability</a:t>
            </a:r>
          </a:p>
          <a:p>
            <a:r>
              <a:rPr lang="en-US" dirty="0"/>
              <a:t>Universal machine idea underlies all stored-program computers</a:t>
            </a:r>
          </a:p>
          <a:p>
            <a:r>
              <a:rPr lang="en-US" dirty="0"/>
              <a:t>1950 paper: "Can machines think?" reframed operationally</a:t>
            </a:r>
          </a:p>
          <a:p>
            <a:r>
              <a:rPr lang="en-US" dirty="0"/>
              <a:t>Imitation game: judge distinguishes human from machine via text</a:t>
            </a:r>
          </a:p>
          <a:p>
            <a:r>
              <a:rPr lang="en-US" dirty="0"/>
              <a:t>Anticipated objections; proposed learning machines and child-education analogy</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1956 Dartmouth Conference</a:t>
            </a:r>
          </a:p>
        </p:txBody>
      </p:sp>
      <p:sp>
        <p:nvSpPr>
          <p:cNvPr id="3" name="Content Placeholder 2"/>
          <p:cNvSpPr>
            <a:spLocks noGrp="1"/>
          </p:cNvSpPr>
          <p:nvPr>
            <p:ph idx="1"/>
          </p:nvPr>
        </p:nvSpPr>
        <p:spPr/>
        <p:txBody>
          <a:bodyPr/>
          <a:lstStyle/>
          <a:p>
            <a:r>
              <a:rPr lang="en-US" dirty="0"/>
              <a:t>Summer workshop organized by McCarthy, Minsky, Rochester, Shannon</a:t>
            </a:r>
          </a:p>
          <a:p>
            <a:r>
              <a:rPr lang="en-US" dirty="0"/>
              <a:t>McCarthy coined the term "artificial intelligence"</a:t>
            </a:r>
          </a:p>
          <a:p>
            <a:r>
              <a:rPr lang="en-US" dirty="0"/>
              <a:t>Proposal: every aspect of learning can be precisely described</a:t>
            </a:r>
          </a:p>
          <a:p>
            <a:r>
              <a:rPr lang="en-US" dirty="0"/>
              <a:t>Attendees included Newell, Simon, Samuel, Selfridge</a:t>
            </a:r>
          </a:p>
          <a:p>
            <a:r>
              <a:rPr lang="en-US" dirty="0"/>
              <a:t>Set the field's agenda: language, reasoning, learning, self-improvement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Early Programs and Demonstrations</a:t>
            </a:r>
          </a:p>
        </p:txBody>
      </p:sp>
      <p:sp>
        <p:nvSpPr>
          <p:cNvPr id="3" name="Content Placeholder 2"/>
          <p:cNvSpPr>
            <a:spLocks noGrp="1"/>
          </p:cNvSpPr>
          <p:nvPr>
            <p:ph idx="1"/>
          </p:nvPr>
        </p:nvSpPr>
        <p:spPr/>
        <p:txBody>
          <a:bodyPr/>
          <a:lstStyle/>
          <a:p>
            <a:r>
              <a:rPr lang="en-US" dirty="0"/>
              <a:t>Logic Theorist (1956) proved theorems from Principia Mathematica</a:t>
            </a:r>
          </a:p>
          <a:p>
            <a:r>
              <a:rPr lang="en-US" dirty="0"/>
              <a:t>General Problem Solver: means-ends reasoning across domains</a:t>
            </a:r>
          </a:p>
          <a:p>
            <a:r>
              <a:rPr lang="en-US" dirty="0"/>
              <a:t>Samuel's checkers program learned to beat its author</a:t>
            </a:r>
          </a:p>
          <a:p>
            <a:r>
              <a:rPr lang="en-US" dirty="0"/>
              <a:t>ELIZA simulated a therapist; SHRDLU understood blocks-world language</a:t>
            </a:r>
          </a:p>
          <a:p>
            <a:r>
              <a:rPr lang="en-US" dirty="0"/>
              <a:t>Perceptron and DENDRAL showed learning and expert reasoning</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Symbolic AI and the Limits of Early Optimism</a:t>
            </a:r>
          </a:p>
        </p:txBody>
      </p:sp>
      <p:sp>
        <p:nvSpPr>
          <p:cNvPr id="3" name="Content Placeholder 2"/>
          <p:cNvSpPr>
            <a:spLocks noGrp="1"/>
          </p:cNvSpPr>
          <p:nvPr>
            <p:ph idx="1"/>
          </p:nvPr>
        </p:nvSpPr>
        <p:spPr/>
        <p:txBody>
          <a:bodyPr/>
          <a:lstStyle/>
          <a:p>
            <a:r>
              <a:rPr lang="en-US" dirty="0"/>
              <a:t>Physical symbol system hypothesis: intelligence is symbol manipulation</a:t>
            </a:r>
          </a:p>
          <a:p>
            <a:r>
              <a:rPr lang="en-US" dirty="0"/>
              <a:t>"GOFAI": explicit rules, search, and knowledge representation</a:t>
            </a:r>
          </a:p>
          <a:p>
            <a:r>
              <a:rPr lang="en-US" dirty="0"/>
              <a:t>Simon predicted machines matching human work within twenty years</a:t>
            </a:r>
          </a:p>
          <a:p>
            <a:r>
              <a:rPr lang="en-US" dirty="0"/>
              <a:t>Combinatorial explosion, commonsense knowledge, brittle microworlds blocked scaling</a:t>
            </a:r>
          </a:p>
          <a:p>
            <a:r>
              <a:rPr lang="en-US" dirty="0"/>
              <a:t>Lighthill report and DARPA cuts triggered the first AI winter</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and Conclusion</a:t>
            </a:r>
          </a:p>
        </p:txBody>
      </p:sp>
      <p:sp>
        <p:nvSpPr>
          <p:cNvPr id="3" name="Content Placeholder 2"/>
          <p:cNvSpPr>
            <a:spLocks noGrp="1"/>
          </p:cNvSpPr>
          <p:nvPr>
            <p:ph idx="1"/>
          </p:nvPr>
        </p:nvSpPr>
        <p:spPr/>
        <p:txBody>
          <a:bodyPr/>
          <a:lstStyle/>
          <a:p>
            <a:r>
              <a:rPr lang="en-US" dirty="0"/>
              <a:t>AI inherited logic, computability, and mechanized-reasoning ideas</a:t>
            </a:r>
          </a:p>
          <a:p>
            <a:r>
              <a:rPr lang="en-US" dirty="0"/>
              <a:t>Turing supplied both a computation model and a behavioral test</a:t>
            </a:r>
          </a:p>
          <a:p>
            <a:r>
              <a:rPr lang="en-US" dirty="0"/>
              <a:t>Dartmouth 1956 named the field and set its agenda</a:t>
            </a:r>
          </a:p>
          <a:p>
            <a:r>
              <a:rPr lang="en-US" dirty="0"/>
              <a:t>Symbolic programs proved feasibility within narrow microworlds</a:t>
            </a:r>
          </a:p>
          <a:p>
            <a:r>
              <a:rPr lang="en-US" dirty="0"/>
              <a:t>Overpromising plus technical limits produced funding winters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and Measuring Machine Intelligence</a:t>
            </a:r>
          </a:p>
        </p:txBody>
      </p:sp>
      <p:sp>
        <p:nvSpPr>
          <p:cNvPr id="3" name="Content Placeholder 2"/>
          <p:cNvSpPr>
            <a:spLocks noGrp="1"/>
          </p:cNvSpPr>
          <p:nvPr>
            <p:ph idx="1"/>
          </p:nvPr>
        </p:nvSpPr>
        <p:spPr/>
        <p:txBody>
          <a:bodyPr/>
          <a:lstStyle/>
          <a:p>
            <a:pPr algn="ctr">
              <a:buNone/>
            </a:pPr>
            <a:r>
              <a:rPr lang="en-US" dirty="0"/>
              <a:t>How Turing's imitation game became AI's first benchmark — and why it is contested today.</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Turing's Question: Can Machines Think?</a:t>
            </a:r>
          </a:p>
        </p:txBody>
      </p:sp>
      <p:sp>
        <p:nvSpPr>
          <p:cNvPr id="3" name="Content Placeholder 2"/>
          <p:cNvSpPr>
            <a:spLocks noGrp="1"/>
          </p:cNvSpPr>
          <p:nvPr>
            <p:ph idx="1"/>
          </p:nvPr>
        </p:nvSpPr>
        <p:spPr/>
        <p:txBody>
          <a:bodyPr/>
          <a:lstStyle/>
          <a:p>
            <a:r>
              <a:rPr lang="en-US" dirty="0"/>
              <a:t>1950 paper: 'Computing Machinery and Intelligence'</a:t>
            </a:r>
          </a:p>
          <a:p>
            <a:r>
              <a:rPr lang="en-US" dirty="0"/>
              <a:t>'Can machines think?' judged too vague to answer</a:t>
            </a:r>
          </a:p>
          <a:p>
            <a:r>
              <a:rPr lang="en-US" dirty="0"/>
              <a:t>Replaced with an operational, observable behavioral test</a:t>
            </a:r>
          </a:p>
          <a:p>
            <a:r>
              <a:rPr lang="en-US" dirty="0"/>
              <a:t>Shifts focus from inner mind to outward performance</a:t>
            </a:r>
          </a:p>
          <a:p>
            <a:r>
              <a:rPr lang="en-US" dirty="0"/>
              <a:t>Defines intelligence by what a system does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Imitation Game Works</a:t>
            </a:r>
          </a:p>
        </p:txBody>
      </p:sp>
      <p:sp>
        <p:nvSpPr>
          <p:cNvPr id="3" name="Content Placeholder 2"/>
          <p:cNvSpPr>
            <a:spLocks noGrp="1"/>
          </p:cNvSpPr>
          <p:nvPr>
            <p:ph idx="1"/>
          </p:nvPr>
        </p:nvSpPr>
        <p:spPr/>
        <p:txBody>
          <a:bodyPr/>
          <a:lstStyle/>
          <a:p>
            <a:r>
              <a:rPr lang="en-US" dirty="0"/>
              <a:t>Human interrogator, two hidden participants: one human, one machine</a:t>
            </a:r>
          </a:p>
          <a:p>
            <a:r>
              <a:rPr lang="en-US" dirty="0"/>
              <a:t>Text-only channel removes voice and appearance cues</a:t>
            </a:r>
          </a:p>
          <a:p>
            <a:r>
              <a:rPr lang="en-US" dirty="0"/>
              <a:t>Interrogator asks free-ranging questions, then judges which is which</a:t>
            </a:r>
          </a:p>
          <a:p>
            <a:r>
              <a:rPr lang="en-US" dirty="0"/>
              <a:t>Machine passes if judges cannot reliably distinguish it</a:t>
            </a:r>
          </a:p>
          <a:p>
            <a:r>
              <a:rPr lang="en-US" dirty="0"/>
              <a:t>Turing predicted ~30% deception after five minutes by 2000</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Capabilities Implied by Passing</a:t>
            </a:r>
          </a:p>
        </p:txBody>
      </p:sp>
      <p:sp>
        <p:nvSpPr>
          <p:cNvPr id="3" name="Content Placeholder 2"/>
          <p:cNvSpPr>
            <a:spLocks noGrp="1"/>
          </p:cNvSpPr>
          <p:nvPr>
            <p:ph idx="1"/>
          </p:nvPr>
        </p:nvSpPr>
        <p:spPr/>
        <p:txBody>
          <a:bodyPr/>
          <a:lstStyle/>
          <a:p>
            <a:r>
              <a:rPr lang="en-US" dirty="0"/>
              <a:t>Natural language processing: understand and generate fluent conversation</a:t>
            </a:r>
          </a:p>
          <a:p>
            <a:r>
              <a:rPr lang="en-US" dirty="0"/>
              <a:t>Knowledge representation: store what it knows and hears</a:t>
            </a:r>
          </a:p>
          <a:p>
            <a:r>
              <a:rPr lang="en-US" dirty="0"/>
              <a:t>Automated reasoning: draw conclusions and answer new questions</a:t>
            </a:r>
          </a:p>
          <a:p>
            <a:r>
              <a:rPr lang="en-US" dirty="0"/>
              <a:t>Machine learning: adapt, generalize, detect patterns</a:t>
            </a:r>
          </a:p>
          <a:p>
            <a:r>
              <a:rPr lang="en-US" dirty="0"/>
              <a:t>Total test adds computer vision and robotics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and Real-World Implementations</a:t>
            </a:r>
          </a:p>
        </p:txBody>
      </p:sp>
      <p:sp>
        <p:nvSpPr>
          <p:cNvPr id="3" name="Content Placeholder 2"/>
          <p:cNvSpPr>
            <a:spLocks noGrp="1"/>
          </p:cNvSpPr>
          <p:nvPr>
            <p:ph idx="1"/>
          </p:nvPr>
        </p:nvSpPr>
        <p:spPr/>
        <p:txBody>
          <a:bodyPr/>
          <a:lstStyle/>
          <a:p>
            <a:r>
              <a:rPr lang="en-US" dirty="0"/>
              <a:t>Total Turing test adds perception and physical manipulation</a:t>
            </a:r>
          </a:p>
          <a:p>
            <a:r>
              <a:rPr lang="en-US" dirty="0"/>
              <a:t>Reverse Turing test: CAPTCHAs make machines prove nonhumanity</a:t>
            </a:r>
          </a:p>
          <a:p>
            <a:r>
              <a:rPr lang="en-US" dirty="0"/>
              <a:t>Loebner Prize ran annual restricted-domain competitions</a:t>
            </a:r>
          </a:p>
          <a:p>
            <a:r>
              <a:rPr lang="en-US" dirty="0"/>
              <a:t>ELIZA, PARRY, Eugene Goostman: famous deceptive chatbots</a:t>
            </a:r>
          </a:p>
          <a:p>
            <a:r>
              <a:rPr lang="en-US" dirty="0"/>
              <a:t>Winograd schemas test commonsense reference resolution</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Chinese Room and Other Criticisms</a:t>
            </a:r>
          </a:p>
        </p:txBody>
      </p:sp>
      <p:sp>
        <p:nvSpPr>
          <p:cNvPr id="3" name="Content Placeholder 2"/>
          <p:cNvSpPr>
            <a:spLocks noGrp="1"/>
          </p:cNvSpPr>
          <p:nvPr>
            <p:ph idx="1"/>
          </p:nvPr>
        </p:nvSpPr>
        <p:spPr/>
        <p:txBody>
          <a:bodyPr/>
          <a:lstStyle/>
          <a:p>
            <a:r>
              <a:rPr lang="en-US" dirty="0"/>
              <a:t>Searle (1980): person follows rules, outputs perfect Chinese</a:t>
            </a:r>
          </a:p>
          <a:p>
            <a:r>
              <a:rPr lang="en-US" dirty="0"/>
              <a:t>Symbol manipulation yields syntax, not semantics or understanding</a:t>
            </a:r>
          </a:p>
          <a:p>
            <a:r>
              <a:rPr lang="en-US" dirty="0"/>
              <a:t>Systems reply: the whole room understands, not the person</a:t>
            </a:r>
          </a:p>
          <a:p>
            <a:r>
              <a:rPr lang="en-US" dirty="0"/>
              <a:t>Test rewards deception, small talk, and human-like errors</a:t>
            </a:r>
          </a:p>
          <a:p>
            <a:r>
              <a:rPr lang="en-US" dirty="0"/>
              <a:t>Anthropocentric: penalizes non-human forms of intelligence</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Alternatives and Conclusion</a:t>
            </a:r>
          </a:p>
        </p:txBody>
      </p:sp>
      <p:sp>
        <p:nvSpPr>
          <p:cNvPr id="3" name="Content Placeholder 2"/>
          <p:cNvSpPr>
            <a:spLocks noGrp="1"/>
          </p:cNvSpPr>
          <p:nvPr>
            <p:ph idx="1"/>
          </p:nvPr>
        </p:nvSpPr>
        <p:spPr/>
        <p:txBody>
          <a:bodyPr/>
          <a:lstStyle/>
          <a:p>
            <a:r>
              <a:rPr lang="en-US" dirty="0"/>
              <a:t>Modern evaluation: task benchmarks, not human resemblance</a:t>
            </a:r>
          </a:p>
          <a:p>
            <a:r>
              <a:rPr lang="en-US" dirty="0"/>
              <a:t>Examples: GLUE, SuperGLUE, ImageNet, MMLU, ARC, HELM</a:t>
            </a:r>
          </a:p>
          <a:p>
            <a:r>
              <a:rPr lang="en-US" dirty="0"/>
              <a:t>Measure capability, robustness, calibration, safety, and bias</a:t>
            </a:r>
          </a:p>
          <a:p>
            <a:r>
              <a:rPr lang="en-US" dirty="0"/>
              <a:t>Turing reframed intelligence as observable behavior — a lasting contribution</a:t>
            </a:r>
          </a:p>
          <a:p>
            <a:r>
              <a:rPr lang="en-US" dirty="0"/>
              <a:t>Passing conversation ≠ understanding; benchmarks now define progress</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Strong AI versus Weak AI</a:t>
            </a:r>
          </a:p>
        </p:txBody>
      </p:sp>
      <p:sp>
        <p:nvSpPr>
          <p:cNvPr id="3" name="Content Placeholder 2"/>
          <p:cNvSpPr>
            <a:spLocks noGrp="1"/>
          </p:cNvSpPr>
          <p:nvPr>
            <p:ph idx="1"/>
          </p:nvPr>
        </p:nvSpPr>
        <p:spPr/>
        <p:txBody>
          <a:bodyPr/>
          <a:lstStyle/>
          <a:p>
            <a:pPr algn="ctr">
              <a:buNone/>
            </a:pPr>
            <a:r>
              <a:rPr lang="en-US" dirty="0"/>
              <a:t>Distinguishing today's narrow, task-specific systems from the aspiration of general machine intelligence</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Weak (Narrow) AI</a:t>
            </a:r>
          </a:p>
        </p:txBody>
      </p:sp>
      <p:sp>
        <p:nvSpPr>
          <p:cNvPr id="3" name="Content Placeholder 2"/>
          <p:cNvSpPr>
            <a:spLocks noGrp="1"/>
          </p:cNvSpPr>
          <p:nvPr>
            <p:ph idx="1"/>
          </p:nvPr>
        </p:nvSpPr>
        <p:spPr/>
        <p:txBody>
          <a:bodyPr/>
          <a:lstStyle/>
          <a:p>
            <a:r>
              <a:rPr lang="en-US" dirty="0"/>
              <a:t>Engineered for one task or a narrow task family</a:t>
            </a:r>
          </a:p>
          <a:p>
            <a:r>
              <a:rPr lang="en-US" dirty="0"/>
              <a:t>Makes no claim to genuine understanding or awareness</a:t>
            </a:r>
          </a:p>
          <a:p>
            <a:r>
              <a:rPr lang="en-US" dirty="0"/>
              <a:t>Performance can exceed humans within its narrow domain</a:t>
            </a:r>
          </a:p>
          <a:p>
            <a:r>
              <a:rPr lang="en-US" dirty="0"/>
              <a:t>Virtually every deployed AI system falls in this category</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Strong AI (AGI)</a:t>
            </a:r>
          </a:p>
        </p:txBody>
      </p:sp>
      <p:sp>
        <p:nvSpPr>
          <p:cNvPr id="3" name="Content Placeholder 2"/>
          <p:cNvSpPr>
            <a:spLocks noGrp="1"/>
          </p:cNvSpPr>
          <p:nvPr>
            <p:ph idx="1"/>
          </p:nvPr>
        </p:nvSpPr>
        <p:spPr/>
        <p:txBody>
          <a:bodyPr/>
          <a:lstStyle/>
          <a:p>
            <a:r>
              <a:rPr lang="en-US" dirty="0"/>
              <a:t>Hypothetical machine with human-comparable general intelligence</a:t>
            </a:r>
          </a:p>
          <a:p>
            <a:r>
              <a:rPr lang="en-US" dirty="0"/>
              <a:t>Reasons flexibly across unfamiliar domains and transfers knowledge</a:t>
            </a:r>
          </a:p>
          <a:p>
            <a:r>
              <a:rPr lang="en-US" dirty="0"/>
              <a:t>May involve genuine understanding, and possibly consciousness</a:t>
            </a:r>
          </a:p>
          <a:p>
            <a:r>
              <a:rPr lang="en-US" dirty="0"/>
              <a:t>Remains an aspiration, not an engineering achievement</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Philosophical Stakes</a:t>
            </a:r>
          </a:p>
        </p:txBody>
      </p:sp>
      <p:sp>
        <p:nvSpPr>
          <p:cNvPr id="3" name="Content Placeholder 2"/>
          <p:cNvSpPr>
            <a:spLocks noGrp="1"/>
          </p:cNvSpPr>
          <p:nvPr>
            <p:ph idx="1"/>
          </p:nvPr>
        </p:nvSpPr>
        <p:spPr/>
        <p:txBody>
          <a:bodyPr/>
          <a:lstStyle/>
          <a:p>
            <a:r>
              <a:rPr lang="en-US" dirty="0"/>
              <a:t>Can computation alone produce a genuine mind?</a:t>
            </a:r>
          </a:p>
          <a:p>
            <a:r>
              <a:rPr lang="en-US" dirty="0"/>
              <a:t>Searle's Chinese Room: symbol manipulation without semantics</a:t>
            </a:r>
          </a:p>
          <a:p>
            <a:r>
              <a:rPr lang="en-US" dirty="0"/>
              <a:t>Behavioral success versus actual understanding may diverge</a:t>
            </a:r>
          </a:p>
          <a:p>
            <a:r>
              <a:rPr lang="en-US" dirty="0"/>
              <a:t>Answers shape moral status, responsibility, and trust</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Today's Systems Actually Sit</a:t>
            </a:r>
          </a:p>
        </p:txBody>
      </p:sp>
      <p:sp>
        <p:nvSpPr>
          <p:cNvPr id="3" name="Content Placeholder 2"/>
          <p:cNvSpPr>
            <a:spLocks noGrp="1"/>
          </p:cNvSpPr>
          <p:nvPr>
            <p:ph idx="1"/>
          </p:nvPr>
        </p:nvSpPr>
        <p:spPr/>
        <p:txBody>
          <a:bodyPr/>
          <a:lstStyle/>
          <a:p>
            <a:r>
              <a:rPr lang="en-US" dirty="0"/>
              <a:t>Large models are broad, yet still weak AI</a:t>
            </a:r>
          </a:p>
          <a:p>
            <a:r>
              <a:rPr lang="en-US" dirty="0"/>
              <a:t>Generality is statistical pattern-matching, not conceptual grasp</a:t>
            </a:r>
          </a:p>
          <a:p>
            <a:r>
              <a:rPr lang="en-US" dirty="0"/>
              <a:t>Brittle failures: hallucination, poor transfer, no grounded goals</a:t>
            </a:r>
          </a:p>
          <a:p>
            <a:r>
              <a:rPr lang="en-US" dirty="0"/>
              <a:t>Impressive breadth should not be mistaken for understanding</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Spectrum Rather Than a Binary</a:t>
            </a:r>
          </a:p>
        </p:txBody>
      </p:sp>
      <p:sp>
        <p:nvSpPr>
          <p:cNvPr id="3" name="Content Placeholder 2"/>
          <p:cNvSpPr>
            <a:spLocks noGrp="1"/>
          </p:cNvSpPr>
          <p:nvPr>
            <p:ph idx="1"/>
          </p:nvPr>
        </p:nvSpPr>
        <p:spPr/>
        <p:txBody>
          <a:bodyPr/>
          <a:lstStyle/>
          <a:p>
            <a:r>
              <a:rPr lang="en-US" dirty="0"/>
              <a:t>Treat generality as a continuum, not two boxes</a:t>
            </a:r>
          </a:p>
          <a:p>
            <a:r>
              <a:rPr lang="en-US" dirty="0"/>
              <a:t>Dimensions: task breadth, transfer, autonomy, robustness, grounding</a:t>
            </a:r>
          </a:p>
          <a:p>
            <a:r>
              <a:rPr lang="en-US" dirty="0"/>
              <a:t>Continuum tracks incremental progress without overclaiming</a:t>
            </a:r>
          </a:p>
          <a:p>
            <a:r>
              <a:rPr lang="en-US" dirty="0"/>
              <a:t>Useful for honest benchmarking and public communication</a:t>
            </a:r>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Weak AI: narrow, task-bound, no claim to understanding</a:t>
            </a:r>
          </a:p>
          <a:p>
            <a:r>
              <a:rPr lang="en-US" dirty="0"/>
              <a:t>Strong AI: general, flexible, possibly conscious, still hypothetical</a:t>
            </a:r>
          </a:p>
          <a:p>
            <a:r>
              <a:rPr lang="en-US" dirty="0"/>
              <a:t>Philosophical stakes: does computation alone create minds?</a:t>
            </a:r>
          </a:p>
          <a:p>
            <a:r>
              <a:rPr lang="en-US" dirty="0"/>
              <a:t>Today's systems remain weak despite impressive statistical breadth</a:t>
            </a:r>
          </a:p>
          <a:p>
            <a:r>
              <a:rPr lang="en-US" dirty="0"/>
              <a:t>Best viewed as a continuum of generality</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Winters and Cycles of Progress</a:t>
            </a:r>
          </a:p>
        </p:txBody>
      </p:sp>
      <p:sp>
        <p:nvSpPr>
          <p:cNvPr id="3" name="Content Placeholder 2"/>
          <p:cNvSpPr>
            <a:spLocks noGrp="1"/>
          </p:cNvSpPr>
          <p:nvPr>
            <p:ph idx="1"/>
          </p:nvPr>
        </p:nvSpPr>
        <p:spPr/>
        <p:txBody>
          <a:bodyPr/>
          <a:lstStyle/>
          <a:p>
            <a:pPr algn="ctr">
              <a:buNone/>
            </a:pPr>
            <a:r>
              <a:rPr lang="en-US" dirty="0"/>
              <a:t>How hype, funding collapse and renewal shaped artificial intelligence's uneven history</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Boom-and-Bust Pattern in AI History</a:t>
            </a:r>
          </a:p>
        </p:txBody>
      </p:sp>
      <p:sp>
        <p:nvSpPr>
          <p:cNvPr id="3" name="Content Placeholder 2"/>
          <p:cNvSpPr>
            <a:spLocks noGrp="1"/>
          </p:cNvSpPr>
          <p:nvPr>
            <p:ph idx="1"/>
          </p:nvPr>
        </p:nvSpPr>
        <p:spPr/>
        <p:txBody>
          <a:bodyPr/>
          <a:lstStyle/>
          <a:p>
            <a:r>
              <a:rPr lang="en-US" dirty="0"/>
              <a:t>AI progress is cyclical, not a straight upward line</a:t>
            </a:r>
          </a:p>
          <a:p>
            <a:r>
              <a:rPr lang="en-US" dirty="0"/>
              <a:t>Cycle: breakthrough, hype, overpromise, disappointment, funding collapse</a:t>
            </a:r>
          </a:p>
          <a:p>
            <a:r>
              <a:rPr lang="en-US" dirty="0"/>
              <a:t>'AI winter' means sustained cuts in funding and interest</a:t>
            </a:r>
          </a:p>
          <a:p>
            <a:r>
              <a:rPr lang="en-US" dirty="0"/>
              <a:t>Pattern repeats because expectations outrun technical reality</a:t>
            </a:r>
          </a:p>
          <a:p>
            <a:r>
              <a:rPr lang="en-US" dirty="0"/>
              <a:t>Understanding cycles explains today's field structure and vocabulary</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First Wave of Optimism (1956-1973)</a:t>
            </a:r>
          </a:p>
        </p:txBody>
      </p:sp>
      <p:sp>
        <p:nvSpPr>
          <p:cNvPr id="3" name="Content Placeholder 2"/>
          <p:cNvSpPr>
            <a:spLocks noGrp="1"/>
          </p:cNvSpPr>
          <p:nvPr>
            <p:ph idx="1"/>
          </p:nvPr>
        </p:nvSpPr>
        <p:spPr/>
        <p:txBody>
          <a:bodyPr/>
          <a:lstStyle/>
          <a:p>
            <a:r>
              <a:rPr lang="en-US" dirty="0"/>
              <a:t>1956 Dartmouth workshop named the field artificial intelligence</a:t>
            </a:r>
          </a:p>
          <a:p>
            <a:r>
              <a:rPr lang="en-US" dirty="0"/>
              <a:t>Symbolic programs proved theorems, solved puzzles, played games</a:t>
            </a:r>
          </a:p>
          <a:p>
            <a:r>
              <a:rPr lang="en-US" dirty="0"/>
              <a:t>Logic Theorist, General Problem Solver, SHRDLU, ELIZA impressed funders</a:t>
            </a:r>
          </a:p>
          <a:p>
            <a:r>
              <a:rPr lang="en-US" dirty="0"/>
              <a:t>Simon predicted machines matching human work within twenty years</a:t>
            </a:r>
          </a:p>
          <a:p>
            <a:r>
              <a:rPr lang="en-US" dirty="0"/>
              <a:t>Generous, largely unconditional DARPA and government funding flowed</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First AI Winter (1974-1980)</a:t>
            </a:r>
          </a:p>
        </p:txBody>
      </p:sp>
      <p:sp>
        <p:nvSpPr>
          <p:cNvPr id="3" name="Content Placeholder 2"/>
          <p:cNvSpPr>
            <a:spLocks noGrp="1"/>
          </p:cNvSpPr>
          <p:nvPr>
            <p:ph idx="1"/>
          </p:nvPr>
        </p:nvSpPr>
        <p:spPr/>
        <p:txBody>
          <a:bodyPr/>
          <a:lstStyle/>
          <a:p>
            <a:r>
              <a:rPr lang="en-US" dirty="0"/>
              <a:t>Toy successes failed to scale; combinatorial explosion blocked search</a:t>
            </a:r>
          </a:p>
          <a:p>
            <a:r>
              <a:rPr lang="en-US" dirty="0"/>
              <a:t>Machine translation and speech projects missed promised targets</a:t>
            </a:r>
          </a:p>
          <a:p>
            <a:r>
              <a:rPr lang="en-US" dirty="0"/>
              <a:t>1973 Lighthill Report condemned UK AI; funding withdrawn</a:t>
            </a:r>
          </a:p>
          <a:p>
            <a:r>
              <a:rPr lang="en-US" dirty="0"/>
              <a:t>DARPA and NRC cut undirected AI research sharply</a:t>
            </a:r>
          </a:p>
          <a:p>
            <a:r>
              <a:rPr lang="en-US" dirty="0"/>
              <a:t>Limited compute, memory and data compounded the failures</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Expert Systems Boom and Second Winter (1980-1993)</a:t>
            </a:r>
          </a:p>
        </p:txBody>
      </p:sp>
      <p:sp>
        <p:nvSpPr>
          <p:cNvPr id="3" name="Content Placeholder 2"/>
          <p:cNvSpPr>
            <a:spLocks noGrp="1"/>
          </p:cNvSpPr>
          <p:nvPr>
            <p:ph idx="1"/>
          </p:nvPr>
        </p:nvSpPr>
        <p:spPr/>
        <p:txBody>
          <a:bodyPr/>
          <a:lstStyle/>
          <a:p>
            <a:r>
              <a:rPr lang="en-US" dirty="0"/>
              <a:t>Expert systems encoded specialist rules for narrow business tasks</a:t>
            </a:r>
          </a:p>
          <a:p>
            <a:r>
              <a:rPr lang="en-US" dirty="0"/>
              <a:t>XCON saved DEC an estimated $40 million annually</a:t>
            </a:r>
          </a:p>
          <a:p>
            <a:r>
              <a:rPr lang="en-US" dirty="0"/>
              <a:t>Japan's Fifth Generation spurred US and UK counter-investment</a:t>
            </a:r>
          </a:p>
          <a:p>
            <a:r>
              <a:rPr lang="en-US" dirty="0"/>
              <a:t>Rules were brittle, costly to maintain, couldn't learn</a:t>
            </a:r>
          </a:p>
          <a:p>
            <a:r>
              <a:rPr lang="en-US" dirty="0"/>
              <a:t>1987 LISP machine market collapsed; funding froze until 1993</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Renewal Through Data, Compute and Learning</a:t>
            </a:r>
          </a:p>
        </p:txBody>
      </p:sp>
      <p:sp>
        <p:nvSpPr>
          <p:cNvPr id="3" name="Content Placeholder 2"/>
          <p:cNvSpPr>
            <a:spLocks noGrp="1"/>
          </p:cNvSpPr>
          <p:nvPr>
            <p:ph idx="1"/>
          </p:nvPr>
        </p:nvSpPr>
        <p:spPr/>
        <p:txBody>
          <a:bodyPr/>
          <a:lstStyle/>
          <a:p>
            <a:r>
              <a:rPr lang="en-US" dirty="0"/>
              <a:t>Shift from hand-coded rules to statistics learned from data</a:t>
            </a:r>
          </a:p>
          <a:p>
            <a:r>
              <a:rPr lang="en-US" dirty="0"/>
              <a:t>Big data: the web and digitisation supplied training examples</a:t>
            </a:r>
          </a:p>
          <a:p>
            <a:r>
              <a:rPr lang="en-US" dirty="0"/>
              <a:t>Compute: Moore's Law, then GPUs, made training feasible</a:t>
            </a:r>
          </a:p>
          <a:p>
            <a:r>
              <a:rPr lang="en-US" dirty="0"/>
              <a:t>Better algorithms: backpropagation, SVMs, deep nets, transformers</a:t>
            </a:r>
          </a:p>
          <a:p>
            <a:r>
              <a:rPr lang="en-US" dirty="0"/>
              <a:t>Milestones: Deep Blue 1997, ImageNet 2012, LLMs today</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Lessons from the Cycles and Conclusion</a:t>
            </a:r>
          </a:p>
        </p:txBody>
      </p:sp>
      <p:sp>
        <p:nvSpPr>
          <p:cNvPr id="3" name="Content Placeholder 2"/>
          <p:cNvSpPr>
            <a:spLocks noGrp="1"/>
          </p:cNvSpPr>
          <p:nvPr>
            <p:ph idx="1"/>
          </p:nvPr>
        </p:nvSpPr>
        <p:spPr/>
        <p:txBody>
          <a:bodyPr/>
          <a:lstStyle/>
          <a:p>
            <a:r>
              <a:rPr lang="en-US" dirty="0"/>
              <a:t>Distinguish demonstrated capability from extrapolated promise</a:t>
            </a:r>
          </a:p>
          <a:p>
            <a:r>
              <a:rPr lang="en-US" dirty="0"/>
              <a:t>Watch for brittleness: does performance survive outside the demo?</a:t>
            </a:r>
          </a:p>
          <a:p>
            <a:r>
              <a:rPr lang="en-US" dirty="0"/>
              <a:t>Overpromising invites backlash; funders remember broken deadlines</a:t>
            </a:r>
          </a:p>
          <a:p>
            <a:r>
              <a:rPr lang="en-US" dirty="0"/>
              <a:t>Progress needs data, compute and algorithms together, not hype</a:t>
            </a:r>
          </a:p>
          <a:p>
            <a:r>
              <a:rPr lang="en-US" dirty="0"/>
              <a:t>Evaluate today's AI claims with benchmarks, costs and failure modes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Modern Breakthroughs and Current Trends</a:t>
            </a:r>
          </a:p>
        </p:txBody>
      </p:sp>
      <p:sp>
        <p:nvSpPr>
          <p:cNvPr id="3" name="Content Placeholder 2"/>
          <p:cNvSpPr>
            <a:spLocks noGrp="1"/>
          </p:cNvSpPr>
          <p:nvPr>
            <p:ph idx="1"/>
          </p:nvPr>
        </p:nvSpPr>
        <p:spPr/>
        <p:txBody>
          <a:bodyPr/>
          <a:lstStyle/>
          <a:p>
            <a:pPr algn="ctr">
              <a:buNone/>
            </a:pPr>
            <a:r>
              <a:rPr lang="en-US" dirty="0"/>
              <a:t>How data, compute, and algorithms carried AI from rules to foundation models</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Rule-Based Systems to Machine Learning</a:t>
            </a:r>
          </a:p>
        </p:txBody>
      </p:sp>
      <p:sp>
        <p:nvSpPr>
          <p:cNvPr id="3" name="Content Placeholder 2"/>
          <p:cNvSpPr>
            <a:spLocks noGrp="1"/>
          </p:cNvSpPr>
          <p:nvPr>
            <p:ph idx="1"/>
          </p:nvPr>
        </p:nvSpPr>
        <p:spPr/>
        <p:txBody>
          <a:bodyPr/>
          <a:lstStyle/>
          <a:p>
            <a:r>
              <a:rPr lang="en-US" dirty="0"/>
              <a:t>Expert systems encoded human knowledge as explicit if-then rules</a:t>
            </a:r>
          </a:p>
          <a:p>
            <a:r>
              <a:rPr lang="en-US" dirty="0"/>
              <a:t>Brittle: rules failed on noisy, novel, or ambiguous inputs</a:t>
            </a:r>
          </a:p>
          <a:p>
            <a:r>
              <a:rPr lang="en-US" dirty="0"/>
              <a:t>Machine learning infers patterns directly from labelled data</a:t>
            </a:r>
          </a:p>
          <a:p>
            <a:r>
              <a:rPr lang="en-US" dirty="0"/>
              <a:t>Statistical methods scaled where hand-coding knowledge could not</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Deep Learning Revolution</a:t>
            </a:r>
          </a:p>
        </p:txBody>
      </p:sp>
      <p:sp>
        <p:nvSpPr>
          <p:cNvPr id="3" name="Content Placeholder 2"/>
          <p:cNvSpPr>
            <a:spLocks noGrp="1"/>
          </p:cNvSpPr>
          <p:nvPr>
            <p:ph idx="1"/>
          </p:nvPr>
        </p:nvSpPr>
        <p:spPr/>
        <p:txBody>
          <a:bodyPr/>
          <a:lstStyle/>
          <a:p>
            <a:r>
              <a:rPr lang="en-US" dirty="0"/>
              <a:t>Many-layered neural networks learn hierarchical representations automatically</a:t>
            </a:r>
          </a:p>
          <a:p>
            <a:r>
              <a:rPr lang="en-US" dirty="0"/>
              <a:t>2012 AlexNet halved ImageNet error, triggering rapid adoption</a:t>
            </a:r>
          </a:p>
          <a:p>
            <a:r>
              <a:rPr lang="en-US" dirty="0"/>
              <a:t>Feature engineering largely replaced by end-to-end learned features</a:t>
            </a:r>
          </a:p>
          <a:p>
            <a:r>
              <a:rPr lang="en-US" dirty="0"/>
              <a:t>Step-change gains in vision, speech, translation, and games</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Three Enablers: Data, Compute, Algorithms</a:t>
            </a:r>
          </a:p>
        </p:txBody>
      </p:sp>
      <p:sp>
        <p:nvSpPr>
          <p:cNvPr id="3" name="Content Placeholder 2"/>
          <p:cNvSpPr>
            <a:spLocks noGrp="1"/>
          </p:cNvSpPr>
          <p:nvPr>
            <p:ph idx="1"/>
          </p:nvPr>
        </p:nvSpPr>
        <p:spPr/>
        <p:txBody>
          <a:bodyPr/>
          <a:lstStyle/>
          <a:p>
            <a:r>
              <a:rPr lang="en-US" dirty="0"/>
              <a:t>Data: web-scale text, images, and labelled benchmarks like ImageNet</a:t>
            </a:r>
          </a:p>
          <a:p>
            <a:r>
              <a:rPr lang="en-US" dirty="0"/>
              <a:t>Compute: GPUs, TPUs, and distributed training at massive scale</a:t>
            </a:r>
          </a:p>
          <a:p>
            <a:r>
              <a:rPr lang="en-US" dirty="0"/>
              <a:t>Algorithms: backpropagation, Transformers, attention, better optimisers</a:t>
            </a:r>
          </a:p>
          <a:p>
            <a:r>
              <a:rPr lang="en-US" dirty="0"/>
              <a:t>Convergence — not any single advance — explains the breakthroughs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Landmark Milestones</a:t>
            </a:r>
          </a:p>
        </p:txBody>
      </p:sp>
      <p:sp>
        <p:nvSpPr>
          <p:cNvPr id="3" name="Content Placeholder 2"/>
          <p:cNvSpPr>
            <a:spLocks noGrp="1"/>
          </p:cNvSpPr>
          <p:nvPr>
            <p:ph idx="1"/>
          </p:nvPr>
        </p:nvSpPr>
        <p:spPr/>
        <p:txBody>
          <a:bodyPr/>
          <a:lstStyle/>
          <a:p>
            <a:r>
              <a:rPr lang="en-US" dirty="0"/>
              <a:t>1997: Deep Blue defeats world chess champion Kasparov</a:t>
            </a:r>
          </a:p>
          <a:p>
            <a:r>
              <a:rPr lang="en-US" dirty="0"/>
              <a:t>2011: IBM Watson wins Jeopardy! against human champions</a:t>
            </a:r>
          </a:p>
          <a:p>
            <a:r>
              <a:rPr lang="en-US" dirty="0"/>
              <a:t>2016: AlphaGo beats Lee Sedol at Go</a:t>
            </a:r>
          </a:p>
          <a:p>
            <a:r>
              <a:rPr lang="en-US" dirty="0"/>
              <a:t>2020-2023: AlphaFold, GPT-4, and multimodal assistants</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Foundation Models and Generative AI</a:t>
            </a:r>
          </a:p>
        </p:txBody>
      </p:sp>
      <p:sp>
        <p:nvSpPr>
          <p:cNvPr id="3" name="Content Placeholder 2"/>
          <p:cNvSpPr>
            <a:spLocks noGrp="1"/>
          </p:cNvSpPr>
          <p:nvPr>
            <p:ph idx="1"/>
          </p:nvPr>
        </p:nvSpPr>
        <p:spPr/>
        <p:txBody>
          <a:bodyPr/>
          <a:lstStyle/>
          <a:p>
            <a:r>
              <a:rPr lang="en-US" dirty="0"/>
              <a:t>Large models pre-trained broadly, then adapted to many tasks</a:t>
            </a:r>
          </a:p>
          <a:p>
            <a:r>
              <a:rPr lang="en-US" dirty="0"/>
              <a:t>Generative systems produce text, images, code, and audio</a:t>
            </a:r>
          </a:p>
          <a:p>
            <a:r>
              <a:rPr lang="en-US" dirty="0"/>
              <a:t>Fine-tuning, prompting, and RLHF replace task-specific training</a:t>
            </a:r>
          </a:p>
          <a:p>
            <a:r>
              <a:rPr lang="en-US" dirty="0"/>
              <a:t>Multimodal and agentic systems extend the frontier</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Current Directions and Conclusion</a:t>
            </a:r>
          </a:p>
        </p:txBody>
      </p:sp>
      <p:sp>
        <p:nvSpPr>
          <p:cNvPr id="3" name="Content Placeholder 2"/>
          <p:cNvSpPr>
            <a:spLocks noGrp="1"/>
          </p:cNvSpPr>
          <p:nvPr>
            <p:ph idx="1"/>
          </p:nvPr>
        </p:nvSpPr>
        <p:spPr/>
        <p:txBody>
          <a:bodyPr/>
          <a:lstStyle/>
          <a:p>
            <a:r>
              <a:rPr lang="en-US" dirty="0"/>
              <a:t>Efficiency: smaller models, quantisation, distillation, cheaper inference</a:t>
            </a:r>
          </a:p>
          <a:p>
            <a:r>
              <a:rPr lang="en-US" dirty="0"/>
              <a:t>Reliability: retrieval grounding, evaluation, interpretability, guardrails</a:t>
            </a:r>
          </a:p>
          <a:p>
            <a:r>
              <a:rPr lang="en-US" dirty="0"/>
              <a:t>Integration: agents, tool use, and embedding AI in workflows</a:t>
            </a:r>
          </a:p>
          <a:p>
            <a:r>
              <a:rPr lang="en-US" dirty="0"/>
              <a:t>Governance: regulation, safety research, and responsible deployment</a:t>
            </a:r>
          </a:p>
          <a:p>
            <a:r>
              <a:rPr lang="en-US" dirty="0"/>
              <a:t>Progress came from convergence, not one breakthrough</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Domains of AI</a:t>
            </a:r>
          </a:p>
        </p:txBody>
      </p:sp>
      <p:sp>
        <p:nvSpPr>
          <p:cNvPr id="3" name="Content Placeholder 2"/>
          <p:cNvSpPr>
            <a:spLocks noGrp="1"/>
          </p:cNvSpPr>
          <p:nvPr>
            <p:ph idx="1"/>
          </p:nvPr>
        </p:nvSpPr>
        <p:spPr/>
        <p:txBody>
          <a:bodyPr/>
          <a:lstStyle/>
          <a:p>
            <a:pPr algn="ctr">
              <a:buNone/>
            </a:pPr>
            <a:r>
              <a:rPr lang="en-US" dirty="0"/>
              <a:t>How AI is deployed across healthcare, finance, transport, education, and creative work.</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Healthcare and Medicine</a:t>
            </a:r>
          </a:p>
        </p:txBody>
      </p:sp>
      <p:sp>
        <p:nvSpPr>
          <p:cNvPr id="3" name="Content Placeholder 2"/>
          <p:cNvSpPr>
            <a:spLocks noGrp="1"/>
          </p:cNvSpPr>
          <p:nvPr>
            <p:ph idx="1"/>
          </p:nvPr>
        </p:nvSpPr>
        <p:spPr/>
        <p:txBody>
          <a:bodyPr/>
          <a:lstStyle/>
          <a:p>
            <a:r>
              <a:rPr lang="en-US" dirty="0"/>
              <a:t>Diagnostic support: imaging analysis in radiology, pathology, dermatology</a:t>
            </a:r>
          </a:p>
          <a:p>
            <a:r>
              <a:rPr lang="en-US" dirty="0"/>
              <a:t>Drug discovery: protein structure prediction, molecule screening</a:t>
            </a:r>
          </a:p>
          <a:p>
            <a:r>
              <a:rPr lang="en-US" dirty="0"/>
              <a:t>Triage, risk scoring, and clinical documentation assistance</a:t>
            </a:r>
          </a:p>
          <a:p>
            <a:r>
              <a:rPr lang="en-US" dirty="0"/>
              <a:t>High stakes raise accountability, trust, and liability questions</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Finance and Business</a:t>
            </a:r>
          </a:p>
        </p:txBody>
      </p:sp>
      <p:sp>
        <p:nvSpPr>
          <p:cNvPr id="3" name="Content Placeholder 2"/>
          <p:cNvSpPr>
            <a:spLocks noGrp="1"/>
          </p:cNvSpPr>
          <p:nvPr>
            <p:ph idx="1"/>
          </p:nvPr>
        </p:nvSpPr>
        <p:spPr/>
        <p:txBody>
          <a:bodyPr/>
          <a:lstStyle/>
          <a:p>
            <a:r>
              <a:rPr lang="en-US" dirty="0"/>
              <a:t>Early adopters: abundant structured data, clear economic incentives</a:t>
            </a:r>
          </a:p>
          <a:p>
            <a:r>
              <a:rPr lang="en-US" dirty="0"/>
              <a:t>Fraud detection and anti-money-laundering pattern recognition</a:t>
            </a:r>
          </a:p>
          <a:p>
            <a:r>
              <a:rPr lang="en-US" dirty="0"/>
              <a:t>Credit scoring, underwriting, and algorithmic trading</a:t>
            </a:r>
          </a:p>
          <a:p>
            <a:r>
              <a:rPr lang="en-US" dirty="0"/>
              <a:t>Customer service chatbots and demand forecasting</a:t>
            </a:r>
          </a:p>
          <a:p>
            <a:r>
              <a:rPr lang="en-US" dirty="0"/>
              <a:t>Bias and opacity in lending decisions invite regulation</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Transportation and Robotics</a:t>
            </a:r>
          </a:p>
        </p:txBody>
      </p:sp>
      <p:sp>
        <p:nvSpPr>
          <p:cNvPr id="3" name="Content Placeholder 2"/>
          <p:cNvSpPr>
            <a:spLocks noGrp="1"/>
          </p:cNvSpPr>
          <p:nvPr>
            <p:ph idx="1"/>
          </p:nvPr>
        </p:nvSpPr>
        <p:spPr/>
        <p:txBody>
          <a:bodyPr/>
          <a:lstStyle/>
          <a:p>
            <a:r>
              <a:rPr lang="en-US" dirty="0"/>
              <a:t>Perception, planning, and control must integrate under uncertainty</a:t>
            </a:r>
          </a:p>
          <a:p>
            <a:r>
              <a:rPr lang="en-US" dirty="0"/>
              <a:t>Autonomous vehicles: sensor fusion, lidar, camera, mapping</a:t>
            </a:r>
          </a:p>
          <a:p>
            <a:r>
              <a:rPr lang="en-US" dirty="0"/>
              <a:t>Warehouse, surgical, and industrial robots in structured settings</a:t>
            </a:r>
          </a:p>
          <a:p>
            <a:r>
              <a:rPr lang="en-US" dirty="0"/>
              <a:t>Demo-to-deployment gap: edge cases defeat reliable generalisation</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Education</a:t>
            </a:r>
          </a:p>
        </p:txBody>
      </p:sp>
      <p:sp>
        <p:nvSpPr>
          <p:cNvPr id="3" name="Content Placeholder 2"/>
          <p:cNvSpPr>
            <a:spLocks noGrp="1"/>
          </p:cNvSpPr>
          <p:nvPr>
            <p:ph idx="1"/>
          </p:nvPr>
        </p:nvSpPr>
        <p:spPr/>
        <p:txBody>
          <a:bodyPr/>
          <a:lstStyle/>
          <a:p>
            <a:r>
              <a:rPr lang="en-US" dirty="0"/>
              <a:t>Intelligent tutoring systems trace back to decades of AI research</a:t>
            </a:r>
          </a:p>
          <a:p>
            <a:r>
              <a:rPr lang="en-US" dirty="0"/>
              <a:t>Personalised pacing, adaptive practice, and immediate feedback</a:t>
            </a:r>
          </a:p>
          <a:p>
            <a:r>
              <a:rPr lang="en-US" dirty="0"/>
              <a:t>Automated grading and reduced routine teacher workload</a:t>
            </a:r>
          </a:p>
          <a:p>
            <a:r>
              <a:rPr lang="en-US" dirty="0"/>
              <a:t>Concerns: surveillance, data privacy, over-reliance, equity of access</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 in Creative and Generative Work</a:t>
            </a:r>
          </a:p>
        </p:txBody>
      </p:sp>
      <p:sp>
        <p:nvSpPr>
          <p:cNvPr id="3" name="Content Placeholder 2"/>
          <p:cNvSpPr>
            <a:spLocks noGrp="1"/>
          </p:cNvSpPr>
          <p:nvPr>
            <p:ph idx="1"/>
          </p:nvPr>
        </p:nvSpPr>
        <p:spPr/>
        <p:txBody>
          <a:bodyPr/>
          <a:lstStyle/>
          <a:p>
            <a:r>
              <a:rPr lang="en-US" dirty="0"/>
              <a:t>Generative models produce text, images, music, and code</a:t>
            </a:r>
          </a:p>
          <a:p>
            <a:r>
              <a:rPr lang="en-US" dirty="0"/>
              <a:t>Reshaped public perception of what AI can do</a:t>
            </a:r>
          </a:p>
          <a:p>
            <a:r>
              <a:rPr lang="en-US" dirty="0"/>
              <a:t>Tools for drafting, ideation, prototyping, and coding assistance</a:t>
            </a:r>
          </a:p>
          <a:p>
            <a:r>
              <a:rPr lang="en-US" dirty="0"/>
              <a:t>Disputes over training data, copyright, attribution, and authorship</a:t>
            </a:r>
          </a:p>
          <a:p>
            <a:r>
              <a:rPr lang="en-US" dirty="0"/>
              <a:t>Fluent output can be confidently wrong or derivative</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Cross-Cutting Strengths, Limitations, and Conclusion</a:t>
            </a:r>
          </a:p>
        </p:txBody>
      </p:sp>
      <p:sp>
        <p:nvSpPr>
          <p:cNvPr id="3" name="Content Placeholder 2"/>
          <p:cNvSpPr>
            <a:spLocks noGrp="1"/>
          </p:cNvSpPr>
          <p:nvPr>
            <p:ph idx="1"/>
          </p:nvPr>
        </p:nvSpPr>
        <p:spPr/>
        <p:txBody>
          <a:bodyPr/>
          <a:lstStyle/>
          <a:p>
            <a:r>
              <a:rPr lang="en-US" dirty="0"/>
              <a:t>Strengths: scale, speed, pattern detection, consistency, tireless operation</a:t>
            </a:r>
          </a:p>
          <a:p>
            <a:r>
              <a:rPr lang="en-US" dirty="0"/>
              <a:t>Limitations: brittleness, data dependence, no causal or commonsense reasoning</a:t>
            </a:r>
          </a:p>
          <a:p>
            <a:r>
              <a:rPr lang="en-US" dirty="0"/>
              <a:t>Recurring risks: bias, opacity, privacy, unclear accountability</a:t>
            </a:r>
          </a:p>
          <a:p>
            <a:r>
              <a:rPr lang="en-US" dirty="0"/>
              <a:t>Best results come from human-AI collaboration, not replacement</a:t>
            </a:r>
          </a:p>
          <a:p>
            <a:r>
              <a:rPr lang="en-US" dirty="0"/>
              <a:t>Evaluate every proposed deployment against domain-specific stakes</a:t>
            </a:r>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Considerations in AI Practice</a:t>
            </a:r>
          </a:p>
        </p:txBody>
      </p:sp>
      <p:sp>
        <p:nvSpPr>
          <p:cNvPr id="3" name="Content Placeholder 2"/>
          <p:cNvSpPr>
            <a:spLocks noGrp="1"/>
          </p:cNvSpPr>
          <p:nvPr>
            <p:ph idx="1"/>
          </p:nvPr>
        </p:nvSpPr>
        <p:spPr/>
        <p:txBody>
          <a:bodyPr/>
          <a:lstStyle/>
          <a:p>
            <a:pPr algn="ctr">
              <a:buNone/>
            </a:pPr>
            <a:r>
              <a:rPr lang="en-US" dirty="0"/>
              <a:t>How bias, transparency, privacy, accountability, and governance shape responsible AI today</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Ethics Became Central to AI</a:t>
            </a:r>
          </a:p>
        </p:txBody>
      </p:sp>
      <p:sp>
        <p:nvSpPr>
          <p:cNvPr id="3" name="Content Placeholder 2"/>
          <p:cNvSpPr>
            <a:spLocks noGrp="1"/>
          </p:cNvSpPr>
          <p:nvPr>
            <p:ph idx="1"/>
          </p:nvPr>
        </p:nvSpPr>
        <p:spPr/>
        <p:txBody>
          <a:bodyPr/>
          <a:lstStyle/>
          <a:p>
            <a:r>
              <a:rPr lang="en-US" dirty="0"/>
              <a:t>AI moved from labs into hiring, lending, healthcare, policing</a:t>
            </a:r>
          </a:p>
          <a:p>
            <a:r>
              <a:rPr lang="en-US" dirty="0"/>
              <a:t>Decisions now affect real people at large scale</a:t>
            </a:r>
          </a:p>
          <a:p>
            <a:r>
              <a:rPr lang="en-US" dirty="0"/>
              <a:t>Errors replicate systematically, not just occasionally</a:t>
            </a:r>
          </a:p>
          <a:p>
            <a:r>
              <a:rPr lang="en-US" dirty="0"/>
              <a:t>Ethics shifted from philosophical footnote to core requirement</a:t>
            </a:r>
          </a:p>
          <a:p>
            <a:r>
              <a:rPr lang="en-US" dirty="0"/>
              <a:t>Public trust and regulation now shape deployment</a:t>
            </a:r>
          </a:p>
          <a:p>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Bias and Fairness in AI Systems</a:t>
            </a:r>
          </a:p>
        </p:txBody>
      </p:sp>
      <p:sp>
        <p:nvSpPr>
          <p:cNvPr id="3" name="Content Placeholder 2"/>
          <p:cNvSpPr>
            <a:spLocks noGrp="1"/>
          </p:cNvSpPr>
          <p:nvPr>
            <p:ph idx="1"/>
          </p:nvPr>
        </p:nvSpPr>
        <p:spPr/>
        <p:txBody>
          <a:bodyPr/>
          <a:lstStyle/>
          <a:p>
            <a:r>
              <a:rPr lang="en-US" dirty="0"/>
              <a:t>Bias enters via unrepresentative data and flawed labels</a:t>
            </a:r>
          </a:p>
          <a:p>
            <a:r>
              <a:rPr lang="en-US" dirty="0"/>
              <a:t>Design choices can encode historical inequities</a:t>
            </a:r>
          </a:p>
          <a:p>
            <a:r>
              <a:rPr lang="en-US" dirty="0"/>
              <a:t>Fairness: avoid systematic disadvantage to protected groups</a:t>
            </a:r>
          </a:p>
          <a:p>
            <a:r>
              <a:rPr lang="en-US" dirty="0"/>
              <a:t>Competing fairness definitions cannot all be satisfied simultaneously</a:t>
            </a:r>
          </a:p>
          <a:p>
            <a:r>
              <a:rPr lang="en-US" dirty="0"/>
              <a:t>Mitigation: audits, diverse data, disaggregated performance testing</a:t>
            </a:r>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Transparency, Explainability, and Privacy</a:t>
            </a:r>
          </a:p>
        </p:txBody>
      </p:sp>
      <p:sp>
        <p:nvSpPr>
          <p:cNvPr id="3" name="Content Placeholder 2"/>
          <p:cNvSpPr>
            <a:spLocks noGrp="1"/>
          </p:cNvSpPr>
          <p:nvPr>
            <p:ph idx="1"/>
          </p:nvPr>
        </p:nvSpPr>
        <p:spPr/>
        <p:txBody>
          <a:bodyPr/>
          <a:lstStyle/>
          <a:p>
            <a:r>
              <a:rPr lang="en-US" dirty="0"/>
              <a:t>High-performing models often behave as opaque black boxes</a:t>
            </a:r>
          </a:p>
          <a:p>
            <a:r>
              <a:rPr lang="en-US" dirty="0"/>
              <a:t>Transparency discloses how a system works overall</a:t>
            </a:r>
          </a:p>
          <a:p>
            <a:r>
              <a:rPr lang="en-US" dirty="0"/>
              <a:t>Explainability justifies individual decisions to affected people</a:t>
            </a:r>
          </a:p>
          <a:p>
            <a:r>
              <a:rPr lang="en-US" dirty="0"/>
              <a:t>AI depends on large volumes of personal data</a:t>
            </a:r>
          </a:p>
          <a:p>
            <a:r>
              <a:rPr lang="en-US" dirty="0"/>
              <a:t>Govern collection, consent, storage, use, and retention</a:t>
            </a:r>
          </a:p>
          <a:p>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Accountability and Workforce Impact</a:t>
            </a:r>
          </a:p>
        </p:txBody>
      </p:sp>
      <p:sp>
        <p:nvSpPr>
          <p:cNvPr id="3" name="Content Placeholder 2"/>
          <p:cNvSpPr>
            <a:spLocks noGrp="1"/>
          </p:cNvSpPr>
          <p:nvPr>
            <p:ph idx="1"/>
          </p:nvPr>
        </p:nvSpPr>
        <p:spPr/>
        <p:txBody>
          <a:bodyPr/>
          <a:lstStyle/>
          <a:p>
            <a:r>
              <a:rPr lang="en-US" dirty="0"/>
              <a:t>Harm responsibility spread across data providers, developers, vendors, deployers</a:t>
            </a:r>
          </a:p>
          <a:p>
            <a:r>
              <a:rPr lang="en-US" dirty="0"/>
              <a:t>Accountability frameworks ensure someone answers for outcomes</a:t>
            </a:r>
          </a:p>
          <a:p>
            <a:r>
              <a:rPr lang="en-US" dirty="0"/>
              <a:t>Tools: audit trails, impact assessments, human oversight, redress</a:t>
            </a:r>
          </a:p>
          <a:p>
            <a:r>
              <a:rPr lang="en-US" dirty="0"/>
              <a:t>Automation displaces tasks, augments others, creates new roles</a:t>
            </a:r>
          </a:p>
          <a:p>
            <a:r>
              <a:rPr lang="en-US" dirty="0"/>
              <a:t>Uneven effects across workers and regions raise ethical questions</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Governance Frameworks and Responsible Practice</a:t>
            </a:r>
          </a:p>
        </p:txBody>
      </p:sp>
      <p:sp>
        <p:nvSpPr>
          <p:cNvPr id="3" name="Content Placeholder 2"/>
          <p:cNvSpPr>
            <a:spLocks noGrp="1"/>
          </p:cNvSpPr>
          <p:nvPr>
            <p:ph idx="1"/>
          </p:nvPr>
        </p:nvSpPr>
        <p:spPr/>
        <p:txBody>
          <a:bodyPr/>
          <a:lstStyle/>
          <a:p>
            <a:r>
              <a:rPr lang="en-US" dirty="0"/>
              <a:t>Governments, standards bodies, industry groups publish AI principles</a:t>
            </a:r>
          </a:p>
          <a:p>
            <a:r>
              <a:rPr lang="en-US" dirty="0"/>
              <a:t>EU AI Act applies risk-tiered legal obligations</a:t>
            </a:r>
          </a:p>
          <a:p>
            <a:r>
              <a:rPr lang="en-US" dirty="0"/>
              <a:t>NIST AI RMF: govern, map, measure, manage</a:t>
            </a:r>
          </a:p>
          <a:p>
            <a:r>
              <a:rPr lang="en-US" dirty="0"/>
              <a:t>ISO/IEC 42001 and OECD principles guide organisations</a:t>
            </a:r>
          </a:p>
          <a:p>
            <a:r>
              <a:rPr lang="en-US" dirty="0"/>
              <a:t>Frameworks turn abstract values into operational requirements</a:t>
            </a:r>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lstStyle/>
          <a:p>
            <a:r>
              <a:rPr lang="en-US" dirty="0"/>
              <a:t>Real-world deployment made ethics an engineering responsibility</a:t>
            </a:r>
          </a:p>
          <a:p>
            <a:r>
              <a:rPr lang="en-US" dirty="0"/>
              <a:t>Bias, opacity, and privacy risks originate in data and design</a:t>
            </a:r>
          </a:p>
          <a:p>
            <a:r>
              <a:rPr lang="en-US" dirty="0"/>
              <a:t>Accountability requires named owners, documentation, oversight, and redress</a:t>
            </a:r>
          </a:p>
          <a:p>
            <a:r>
              <a:rPr lang="en-US" dirty="0"/>
              <a:t>Workforce effects are uneven and demand deliberate policy</a:t>
            </a:r>
          </a:p>
          <a:p>
            <a:r>
              <a:rPr lang="en-US" dirty="0"/>
              <a:t>Governance frameworks operationalise ethics across the AI lifecycle</a:t>
            </a:r>
          </a:p>
          <a:p>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Defining Intelligence and Artificial Intelligence</a:t>
            </a:r>
          </a:p>
        </p:txBody>
      </p:sp>
      <p:sp>
        <p:nvSpPr>
          <p:cNvPr id="3" name="Content Placeholder 2"/>
          <p:cNvSpPr>
            <a:spLocks noGrp="1"/>
          </p:cNvSpPr>
          <p:nvPr>
            <p:ph idx="1"/>
          </p:nvPr>
        </p:nvSpPr>
        <p:spPr/>
        <p:txBody>
          <a:bodyPr/>
          <a:lstStyle/>
          <a:p>
            <a:r>
              <a:rPr lang="en-US" dirty="0"/>
              <a:t>MO1: Fully addressed — four approaches compared on both defining axes</a:t>
            </a:r>
          </a:p>
          <a:p>
            <a:r>
              <a:rPr lang="en-US" dirty="0"/>
              <a:t>MO2: Fully addressed — imitation game procedure explained step by step</a:t>
            </a:r>
          </a:p>
          <a:p>
            <a:r>
              <a:rPr lang="en-US" dirty="0"/>
              <a:t>MO3: Supported — weak/strong capability criteria given for classifying systems</a:t>
            </a:r>
          </a:p>
          <a:p>
            <a:r>
              <a:rPr lang="en-US" dirty="0"/>
              <a:t>MO4: Not addressed — AI winters covered in a later session</a:t>
            </a:r>
          </a:p>
          <a:p>
            <a:r>
              <a:rPr lang="en-US" dirty="0"/>
              <a:t>MO5: Not addressed — ethical risk evaluation only briefly motivated</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Origins and Early History of AI</a:t>
            </a:r>
          </a:p>
        </p:txBody>
      </p:sp>
      <p:sp>
        <p:nvSpPr>
          <p:cNvPr id="3" name="Content Placeholder 2"/>
          <p:cNvSpPr>
            <a:spLocks noGrp="1"/>
          </p:cNvSpPr>
          <p:nvPr>
            <p:ph idx="1"/>
          </p:nvPr>
        </p:nvSpPr>
        <p:spPr/>
        <p:txBody>
          <a:bodyPr/>
          <a:lstStyle/>
          <a:p>
            <a:r>
              <a:rPr lang="en-US" dirty="0"/>
              <a:t>MO1: Not addressed directly; historical context precedes the four definitional approaches</a:t>
            </a:r>
          </a:p>
          <a:p>
            <a:r>
              <a:rPr lang="en-US" dirty="0"/>
              <a:t>MO2: Imitation game procedure explained in Turing slide and notes</a:t>
            </a:r>
          </a:p>
          <a:p>
            <a:r>
              <a:rPr lang="en-US" dirty="0"/>
              <a:t>MO3: Not addressed; narrow microworld limits hint at weak AI</a:t>
            </a:r>
          </a:p>
          <a:p>
            <a:r>
              <a:rPr lang="en-US" dirty="0"/>
              <a:t>MO4: Lighthill report, funding cuts, and technical barriers examined</a:t>
            </a:r>
          </a:p>
          <a:p>
            <a:r>
              <a:rPr lang="en-US" dirty="0"/>
              <a:t>MO5: Not addressed; ethics covered elsewhere in the module</a:t>
            </a:r>
          </a:p>
          <a:p>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The Turing Test and Measuring Machine Intelligence</a:t>
            </a:r>
          </a:p>
        </p:txBody>
      </p:sp>
      <p:sp>
        <p:nvSpPr>
          <p:cNvPr id="3" name="Content Placeholder 2"/>
          <p:cNvSpPr>
            <a:spLocks noGrp="1"/>
          </p:cNvSpPr>
          <p:nvPr>
            <p:ph idx="1"/>
          </p:nvPr>
        </p:nvSpPr>
        <p:spPr/>
        <p:txBody>
          <a:bodyPr/>
          <a:lstStyle/>
          <a:p>
            <a:r>
              <a:rPr lang="en-US" dirty="0"/>
              <a:t>MO1: Not directly addressed; acting-humanly approach referenced only in passing</a:t>
            </a:r>
          </a:p>
          <a:p>
            <a:r>
              <a:rPr lang="en-US" dirty="0"/>
              <a:t>MO2: Fully supported — imitation game procedure explained in detail</a:t>
            </a:r>
          </a:p>
          <a:p>
            <a:r>
              <a:rPr lang="en-US" dirty="0"/>
              <a:t>MO3: Partially supported via capability criteria and benchmark discussion</a:t>
            </a:r>
          </a:p>
          <a:p>
            <a:r>
              <a:rPr lang="en-US" dirty="0"/>
              <a:t>MO4: Not addressed — AI winters fall outside this presentation</a:t>
            </a:r>
          </a:p>
          <a:p>
            <a:r>
              <a:rPr lang="en-US" dirty="0"/>
              <a:t>MO5: Not addressed; bias and safety noted only within benchmarks</a:t>
            </a:r>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Strong AI versus Weak AI</a:t>
            </a:r>
          </a:p>
        </p:txBody>
      </p:sp>
      <p:sp>
        <p:nvSpPr>
          <p:cNvPr id="3" name="Content Placeholder 2"/>
          <p:cNvSpPr>
            <a:spLocks noGrp="1"/>
          </p:cNvSpPr>
          <p:nvPr>
            <p:ph idx="1"/>
          </p:nvPr>
        </p:nvSpPr>
        <p:spPr/>
        <p:txBody>
          <a:bodyPr/>
          <a:lstStyle/>
          <a:p>
            <a:r>
              <a:rPr lang="en-US" dirty="0"/>
              <a:t>MO1: Not addressed; four classic definitional approaches covered elsewhere.</a:t>
            </a:r>
          </a:p>
          <a:p>
            <a:r>
              <a:rPr lang="en-US" dirty="0"/>
              <a:t>MO2: Not addressed; Turing's imitation game procedure not examined here.</a:t>
            </a:r>
          </a:p>
          <a:p>
            <a:r>
              <a:rPr lang="en-US" dirty="0"/>
              <a:t>MO3: Directly supported; capability criteria for classifying weak versus strong.</a:t>
            </a:r>
          </a:p>
          <a:p>
            <a:r>
              <a:rPr lang="en-US" dirty="0"/>
              <a:t>MO4: Not addressed; AI winters and their causes not covered.</a:t>
            </a:r>
          </a:p>
          <a:p>
            <a:r>
              <a:rPr lang="en-US" dirty="0"/>
              <a:t>MO5: Briefly touched; trust, responsibility, moral status noted only.</a:t>
            </a:r>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AI Winters and Cycles of Progress</a:t>
            </a:r>
          </a:p>
        </p:txBody>
      </p:sp>
      <p:sp>
        <p:nvSpPr>
          <p:cNvPr id="3" name="Content Placeholder 2"/>
          <p:cNvSpPr>
            <a:spLocks noGrp="1"/>
          </p:cNvSpPr>
          <p:nvPr>
            <p:ph idx="1"/>
          </p:nvPr>
        </p:nvSpPr>
        <p:spPr/>
        <p:txBody>
          <a:bodyPr/>
          <a:lstStyle/>
          <a:p>
            <a:r>
              <a:rPr lang="en-US" dirty="0"/>
              <a:t>MO1: Not addressed — no comparison of four definitional approaches</a:t>
            </a:r>
          </a:p>
          <a:p>
            <a:r>
              <a:rPr lang="en-US" dirty="0"/>
              <a:t>MO2: Not addressed — Turing's imitation game not covered here</a:t>
            </a:r>
          </a:p>
          <a:p>
            <a:r>
              <a:rPr lang="en-US" dirty="0"/>
              <a:t>MO3: Not addressed — weak versus strong AI classification omitted</a:t>
            </a:r>
          </a:p>
          <a:p>
            <a:r>
              <a:rPr lang="en-US" dirty="0"/>
              <a:t>MO4: Fully supported — technical and economic causes of both winters</a:t>
            </a:r>
          </a:p>
          <a:p>
            <a:r>
              <a:rPr lang="en-US" dirty="0"/>
              <a:t>MO5: Not addressed — ethical risk evaluation lies outside this deck</a:t>
            </a:r>
          </a:p>
          <a:p>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Modern Breakthroughs and Current Trends</a:t>
            </a:r>
          </a:p>
        </p:txBody>
      </p:sp>
      <p:sp>
        <p:nvSpPr>
          <p:cNvPr id="3" name="Content Placeholder 2"/>
          <p:cNvSpPr>
            <a:spLocks noGrp="1"/>
          </p:cNvSpPr>
          <p:nvPr>
            <p:ph idx="1"/>
          </p:nvPr>
        </p:nvSpPr>
        <p:spPr/>
        <p:txBody>
          <a:bodyPr/>
          <a:lstStyle/>
          <a:p>
            <a:r>
              <a:rPr lang="en-US" dirty="0"/>
              <a:t>MO1: Not directly addressed; four classic definitions covered elsewhere</a:t>
            </a:r>
          </a:p>
          <a:p>
            <a:r>
              <a:rPr lang="en-US" dirty="0"/>
              <a:t>MO2: Not addressed; Turing's imitation game not examined here</a:t>
            </a:r>
          </a:p>
          <a:p>
            <a:r>
              <a:rPr lang="en-US" dirty="0"/>
              <a:t>MO3: Supports it — milestones and foundation models illustrate narrow versus general</a:t>
            </a:r>
          </a:p>
          <a:p>
            <a:r>
              <a:rPr lang="en-US" dirty="0"/>
              <a:t>MO4: Partially — contrasts brittle expert systems with later data-driven success</a:t>
            </a:r>
          </a:p>
          <a:p>
            <a:r>
              <a:rPr lang="en-US" dirty="0"/>
              <a:t>MO5: Partially — generative AI bias, transparency, and governance risks flagged</a:t>
            </a: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Application Domains of AI</a:t>
            </a:r>
          </a:p>
        </p:txBody>
      </p:sp>
      <p:sp>
        <p:nvSpPr>
          <p:cNvPr id="3" name="Content Placeholder 2"/>
          <p:cNvSpPr>
            <a:spLocks noGrp="1"/>
          </p:cNvSpPr>
          <p:nvPr>
            <p:ph idx="1"/>
          </p:nvPr>
        </p:nvSpPr>
        <p:spPr/>
        <p:txBody>
          <a:bodyPr/>
          <a:lstStyle/>
          <a:p>
            <a:r>
              <a:rPr lang="en-US" dirty="0"/>
              <a:t>MO1: Not addressed — no coverage of the four definitional approaches.</a:t>
            </a:r>
          </a:p>
          <a:p>
            <a:r>
              <a:rPr lang="en-US" dirty="0"/>
              <a:t>MO2: Not addressed — Turing's imitation game not discussed here.</a:t>
            </a:r>
          </a:p>
          <a:p>
            <a:r>
              <a:rPr lang="en-US" dirty="0"/>
              <a:t>MO3: Partially — domain examples illustrate narrow, task-specific AI capability.</a:t>
            </a:r>
          </a:p>
          <a:p>
            <a:r>
              <a:rPr lang="en-US" dirty="0"/>
              <a:t>MO4: Not addressed — AI winters and their causes lie elsewhere.</a:t>
            </a:r>
          </a:p>
          <a:p>
            <a:r>
              <a:rPr lang="en-US" dirty="0"/>
              <a:t>MO5: Strongly supported — ethical risks examined within each application domain.</a:t>
            </a:r>
          </a:p>
          <a:p>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 — Ethical Considerations in AI Practice</a:t>
            </a:r>
          </a:p>
        </p:txBody>
      </p:sp>
      <p:sp>
        <p:nvSpPr>
          <p:cNvPr id="3" name="Content Placeholder 2"/>
          <p:cNvSpPr>
            <a:spLocks noGrp="1"/>
          </p:cNvSpPr>
          <p:nvPr>
            <p:ph idx="1"/>
          </p:nvPr>
        </p:nvSpPr>
        <p:spPr/>
        <p:txBody>
          <a:bodyPr/>
          <a:lstStyle/>
          <a:p>
            <a:r>
              <a:rPr lang="en-US" dirty="0"/>
              <a:t>MO1: Not addressed — four definitional approaches lie outside this topic</a:t>
            </a:r>
          </a:p>
          <a:p>
            <a:r>
              <a:rPr lang="en-US" dirty="0"/>
              <a:t>MO2: Not addressed — Turing's imitation game not covered here</a:t>
            </a:r>
          </a:p>
          <a:p>
            <a:r>
              <a:rPr lang="en-US" dirty="0"/>
              <a:t>MO3: Not addressed — weak versus strong AI classification not discussed</a:t>
            </a:r>
          </a:p>
          <a:p>
            <a:r>
              <a:rPr lang="en-US" dirty="0"/>
              <a:t>MO4: Not addressed — AI winters and their causes not examined</a:t>
            </a:r>
          </a:p>
          <a:p>
            <a:r>
              <a:rPr lang="en-US" dirty="0"/>
              <a:t>MO5: Fully supported — bias, transparency, privacy, accountability risks in deployments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65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History and Foundations of Artificial Intelligence</dc:title>
  <dc:creator>CourseBuilder+</dc:creator>
  <cp:lastModifiedBy>CourseBuilder+</cp:lastModifiedBy>
  <dcterms:created xsi:type="dcterms:W3CDTF">2026-09-28T16:31:56Z</dcterms:created>
  <dcterms:modified xsi:type="dcterms:W3CDTF">2026-09-28T16:31:56Z</dcterms:modified>
</cp:coreProperties>
</file>