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examine one of the most persistent distinctions in artificial intelligence: weak (narrow) AI versus strong AI, sometimes called artificial general intelligence. We will define each term carefully, explore why philosophers treat the divide as more than a technical label, locate today's most impressive systems on that map, and finally question whether a clean binary is even the right framing. The goal is not to settle the debate but to give you precise vocabulary for classifying systems you encounter in research, in industry, and in the press.</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Weak AI, also called narrow AI, describes systems built to perform a specific task or bounded set of tasks. Spam filters, route planners, recommendation engines, medical image classifiers, speech recognizers, and game-playing engines are all weak AI. Crucially, 'weak' is not an insult about capability: AlphaGo plays Go better than any human, yet it cannot explain the game, transfer its skill to chess without retraining, or know that it is playing at all. The 'weak' label refers to the absence of any claim that the system understands, only that it behaves usefully. Emphasize to students that essentially every commercially deployed AI system today is narrow AI.</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Strong AI, or artificial general intelligence, describes a hypothetical system possessing general intelligence comparable to a human's: the ability to learn, reason, and adapt across arbitrary domains rather than a single trained task. Stronger versions of the claim add genuine understanding and perhaps consciousness or subjective experience. No such system exists. Note the two senses students often conflate: a capability claim (breadth and flexibility of competence) and a metaphysical claim (there is something it is like to be this system, it really means what it says). Keep these separate throughout the course, since a system could in principle be broadly capable without being conscious.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strong/weak divide is not merely a technical taxonomy; it asks whether running the right program is sufficient for having a mind. John Searle's Chinese Room argument, which coined the strong/weak terminology in 1980, imagines a person in a room following English rules to manipulate Chinese symbols convincingly without understanding Chinese; Searle argues syntax never yields semantics. Critics reply that the whole system, not the person, understands. However you land, the answer matters practically: whether a machine can be blamed, whether it deserves moral consideration, and how much we should trust fluent-sounding output all hinge on whether behavior implies comprehension.</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Contemporary large-scale machine learning models write code, summarize law, and pass professional exams, which makes the weak label feel strained. Yet their generality is statistical rather than conceptual: competence emerges from correlations over enormous training corpora, not from a grounded model of the world. Evidence includes confident fabrication, sensitivity to prompt phrasing, failures on simple out-of-distribution reasoning, and absence of persistent goals or self-directed learning. Classification criterion for students: ask whether the system reliably transfers learned structure to genuinely novel domains without retraining. By that criterion, today's systems remain narrow, albeit remarkably wide-ranging narrow systems.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Because modern systems sit awkwardly between the classic categories, many researchers prefer a continuum of generality. Place systems along dimensions such as the breadth of tasks handled, the ability to transfer without retraining, autonomy in setting subgoals, robustness under distribution shift, and grounding in the world. A thermostat, a chess engine, a self-driving stack, and a multimodal foundation model then occupy increasingly general positions without anyone having to declare AGI achieved. This framing keeps claims proportionate, supports measurable benchmarks, and discourages both dismissive and hype-driven descriptions of progress.</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weak AI names the task-specific systems that constitute all deployed AI today; strong AI names a hypothetical general, understanding machine. The distinction is philosophically loaded because it asks whether symbol manipulation can constitute thought, with consequences for trust, moral status, and accountability. Current large models blur but do not cross the line, since their generality is statistical rather than conceptual. Treating generality as a spectrum lets us describe progress honestly. For the next session, be ready to classify three named systems using these criteria.</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deck targets MO3 most directly: students leave with explicit criteria — task breadth, transfer, autonomy, robustness, grounding — for classifying contemporary systems as weak or strong. MO5 is only glanced at through the accountability and trust implications of the philosophical debate; a dedicated ethics session handles bias, transparency, and privacy in application domains. MO1, MO2, and MO4 belong to other sessions covering the four definitional approaches, the imitation game, and the AI winters respectively.</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Strong AI versus Weak AI</a:t>
            </a:r>
          </a:p>
        </p:txBody>
      </p:sp>
      <p:sp>
        <p:nvSpPr>
          <p:cNvPr id="3" name="Content Placeholder 2"/>
          <p:cNvSpPr>
            <a:spLocks noGrp="1"/>
          </p:cNvSpPr>
          <p:nvPr>
            <p:ph idx="1"/>
          </p:nvPr>
        </p:nvSpPr>
        <p:spPr/>
        <p:txBody>
          <a:bodyPr/>
          <a:lstStyle/>
          <a:p>
            <a:pPr algn="ctr">
              <a:buNone/>
            </a:pPr>
            <a:r>
              <a:rPr lang="en-US" dirty="0"/>
              <a:t>Distinguishing today's narrow, task-specific systems from the aspiration of general machine intelligence</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Weak (Narrow) AI</a:t>
            </a:r>
          </a:p>
        </p:txBody>
      </p:sp>
      <p:sp>
        <p:nvSpPr>
          <p:cNvPr id="3" name="Content Placeholder 2"/>
          <p:cNvSpPr>
            <a:spLocks noGrp="1"/>
          </p:cNvSpPr>
          <p:nvPr>
            <p:ph idx="1"/>
          </p:nvPr>
        </p:nvSpPr>
        <p:spPr/>
        <p:txBody>
          <a:bodyPr/>
          <a:lstStyle/>
          <a:p>
            <a:r>
              <a:rPr lang="en-US" dirty="0"/>
              <a:t>Engineered for one task or a narrow task family</a:t>
            </a:r>
          </a:p>
          <a:p>
            <a:r>
              <a:rPr lang="en-US" dirty="0"/>
              <a:t>Makes no claim to genuine understanding or awareness</a:t>
            </a:r>
          </a:p>
          <a:p>
            <a:r>
              <a:rPr lang="en-US" dirty="0"/>
              <a:t>Performance can exceed humans within its narrow domain</a:t>
            </a:r>
          </a:p>
          <a:p>
            <a:r>
              <a:rPr lang="en-US" dirty="0"/>
              <a:t>Virtually every deployed AI system falls in this category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Strong AI (AGI)</a:t>
            </a:r>
          </a:p>
        </p:txBody>
      </p:sp>
      <p:sp>
        <p:nvSpPr>
          <p:cNvPr id="3" name="Content Placeholder 2"/>
          <p:cNvSpPr>
            <a:spLocks noGrp="1"/>
          </p:cNvSpPr>
          <p:nvPr>
            <p:ph idx="1"/>
          </p:nvPr>
        </p:nvSpPr>
        <p:spPr/>
        <p:txBody>
          <a:bodyPr/>
          <a:lstStyle/>
          <a:p>
            <a:r>
              <a:rPr lang="en-US" dirty="0"/>
              <a:t>Hypothetical machine with human-comparable general intelligence</a:t>
            </a:r>
          </a:p>
          <a:p>
            <a:r>
              <a:rPr lang="en-US" dirty="0"/>
              <a:t>Reasons flexibly across unfamiliar domains and transfers knowledge</a:t>
            </a:r>
          </a:p>
          <a:p>
            <a:r>
              <a:rPr lang="en-US" dirty="0"/>
              <a:t>May involve genuine understanding, and possibly consciousness</a:t>
            </a:r>
          </a:p>
          <a:p>
            <a:r>
              <a:rPr lang="en-US" dirty="0"/>
              <a:t>Remains an aspiration, not an engineering achievement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Philosophical Stakes</a:t>
            </a:r>
          </a:p>
        </p:txBody>
      </p:sp>
      <p:sp>
        <p:nvSpPr>
          <p:cNvPr id="3" name="Content Placeholder 2"/>
          <p:cNvSpPr>
            <a:spLocks noGrp="1"/>
          </p:cNvSpPr>
          <p:nvPr>
            <p:ph idx="1"/>
          </p:nvPr>
        </p:nvSpPr>
        <p:spPr/>
        <p:txBody>
          <a:bodyPr/>
          <a:lstStyle/>
          <a:p>
            <a:r>
              <a:rPr lang="en-US" dirty="0"/>
              <a:t>Can computation alone produce a genuine mind?</a:t>
            </a:r>
          </a:p>
          <a:p>
            <a:r>
              <a:rPr lang="en-US" dirty="0"/>
              <a:t>Searle's Chinese Room: symbol manipulation without semantics</a:t>
            </a:r>
          </a:p>
          <a:p>
            <a:r>
              <a:rPr lang="en-US" dirty="0"/>
              <a:t>Behavioral success versus actual understanding may diverge</a:t>
            </a:r>
          </a:p>
          <a:p>
            <a:r>
              <a:rPr lang="en-US" dirty="0"/>
              <a:t>Answers shape moral status, responsibility, and trust</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Today's Systems Actually Sit</a:t>
            </a:r>
          </a:p>
        </p:txBody>
      </p:sp>
      <p:sp>
        <p:nvSpPr>
          <p:cNvPr id="3" name="Content Placeholder 2"/>
          <p:cNvSpPr>
            <a:spLocks noGrp="1"/>
          </p:cNvSpPr>
          <p:nvPr>
            <p:ph idx="1"/>
          </p:nvPr>
        </p:nvSpPr>
        <p:spPr/>
        <p:txBody>
          <a:bodyPr/>
          <a:lstStyle/>
          <a:p>
            <a:r>
              <a:rPr lang="en-US" dirty="0"/>
              <a:t>Large models are broad, yet still weak AI</a:t>
            </a:r>
          </a:p>
          <a:p>
            <a:r>
              <a:rPr lang="en-US" dirty="0"/>
              <a:t>Generality is statistical pattern-matching, not conceptual grasp</a:t>
            </a:r>
          </a:p>
          <a:p>
            <a:r>
              <a:rPr lang="en-US" dirty="0"/>
              <a:t>Brittle failures: hallucination, poor transfer, no grounded goals</a:t>
            </a:r>
          </a:p>
          <a:p>
            <a:r>
              <a:rPr lang="en-US" dirty="0"/>
              <a:t>Impressive breadth should not be mistaken for understanding</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Spectrum Rather Than a Binary</a:t>
            </a:r>
          </a:p>
        </p:txBody>
      </p:sp>
      <p:sp>
        <p:nvSpPr>
          <p:cNvPr id="3" name="Content Placeholder 2"/>
          <p:cNvSpPr>
            <a:spLocks noGrp="1"/>
          </p:cNvSpPr>
          <p:nvPr>
            <p:ph idx="1"/>
          </p:nvPr>
        </p:nvSpPr>
        <p:spPr/>
        <p:txBody>
          <a:bodyPr/>
          <a:lstStyle/>
          <a:p>
            <a:r>
              <a:rPr lang="en-US" dirty="0"/>
              <a:t>Treat generality as a continuum, not two boxes</a:t>
            </a:r>
          </a:p>
          <a:p>
            <a:r>
              <a:rPr lang="en-US" dirty="0"/>
              <a:t>Dimensions: task breadth, transfer, autonomy, robustness, grounding</a:t>
            </a:r>
          </a:p>
          <a:p>
            <a:r>
              <a:rPr lang="en-US" dirty="0"/>
              <a:t>Continuum tracks incremental progress without overclaiming</a:t>
            </a:r>
          </a:p>
          <a:p>
            <a:r>
              <a:rPr lang="en-US" dirty="0"/>
              <a:t>Useful for honest benchmarking and public communication</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Weak AI: narrow, task-bound, no claim to understanding</a:t>
            </a:r>
          </a:p>
          <a:p>
            <a:r>
              <a:rPr lang="en-US" dirty="0"/>
              <a:t>Strong AI: general, flexible, possibly conscious, still hypothetical</a:t>
            </a:r>
          </a:p>
          <a:p>
            <a:r>
              <a:rPr lang="en-US" dirty="0"/>
              <a:t>Philosophical stakes: does computation alone create minds?</a:t>
            </a:r>
          </a:p>
          <a:p>
            <a:r>
              <a:rPr lang="en-US" dirty="0"/>
              <a:t>Today's systems remain weak despite impressive statistical breadth</a:t>
            </a:r>
          </a:p>
          <a:p>
            <a:r>
              <a:rPr lang="en-US" dirty="0"/>
              <a:t>Best viewed as a continuum of generality</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a:t>
            </a:r>
          </a:p>
        </p:txBody>
      </p:sp>
      <p:sp>
        <p:nvSpPr>
          <p:cNvPr id="3" name="Content Placeholder 2"/>
          <p:cNvSpPr>
            <a:spLocks noGrp="1"/>
          </p:cNvSpPr>
          <p:nvPr>
            <p:ph idx="1"/>
          </p:nvPr>
        </p:nvSpPr>
        <p:spPr/>
        <p:txBody>
          <a:bodyPr/>
          <a:lstStyle/>
          <a:p>
            <a:r>
              <a:rPr lang="en-US" dirty="0"/>
              <a:t>MO1: Not addressed; four classic definitional approaches covered elsewhere.</a:t>
            </a:r>
          </a:p>
          <a:p>
            <a:r>
              <a:rPr lang="en-US" dirty="0"/>
              <a:t>MO2: Not addressed; Turing's imitation game procedure not examined here.</a:t>
            </a:r>
          </a:p>
          <a:p>
            <a:r>
              <a:rPr lang="en-US" dirty="0"/>
              <a:t>MO3: Directly supported; capability criteria for classifying weak versus strong.</a:t>
            </a:r>
          </a:p>
          <a:p>
            <a:r>
              <a:rPr lang="en-US" dirty="0"/>
              <a:t>MO4: Not addressed; AI winters and their causes not covered.</a:t>
            </a:r>
          </a:p>
          <a:p>
            <a:r>
              <a:rPr lang="en-US" dirty="0"/>
              <a:t>MO5: Briefly touched; trust, responsibility, moral status noted only.</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CourseBuilder+</Application>
  <Slides>8</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Strong AI versus Weak AI</dc:title>
  <dc:creator>CourseBuilder+</dc:creator>
  <cp:lastModifiedBy>CourseBuilder+</cp:lastModifiedBy>
  <dcterms:created xsi:type="dcterms:W3CDTF">2026-09-28T16:29:22Z</dcterms:created>
  <dcterms:modified xsi:type="dcterms:W3CDTF">2026-09-28T16:29:22Z</dcterms:modified>
</cp:coreProperties>
</file>