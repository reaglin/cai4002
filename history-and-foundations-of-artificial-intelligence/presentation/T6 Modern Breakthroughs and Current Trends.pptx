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This session surveys AI's modern era: the shift from hand-coded expert systems to statistical machine learning, the deep learning revolution after 2012, the three enablers that made it possible, the landmark milestones that captured public attention, the arrival of foundation models and generative AI, and the research directions driving the field today. Our aim is a clear map of how we got here and where things are heading, not a technical deep dive into individual algorithms.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Through the 1970s and 1980s, AI was dominated by symbolic, rule-based expert systems such as MYCIN and XCON. Knowledge engineers interviewed specialists and hand-coded thousands of rules. These systems worked in narrow domains but were brittle, expensive to maintain, and unable to handle uncertainty or inputs outside their rule set. The turning point of AI's modern era was the shift to statistical learning: rather than telling the machine what to conclude, we show it examples and let it infer the mapping. Decision trees, support vector machines, and probabilistic graphical models dominated the 1990s and 2000s, supported by growing digital datasets and a stronger emphasis on empirical benchmarking.</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Deep learning means neural networks with many layers, each building more abstract features from the layer below — edges, then textures, then object parts, then objects. The symbolic moment was 2012, when AlexNet cut the ImageNet classification error dramatically using GPUs, ReLU activations, and dropout. Within a few years, deep networks displaced hand-crafted features in computer vision, drove speech recognition error rates down sharply, and transformed machine translation. The key practical change was end-to-end learning: instead of engineers designing features, the network learns representations directly from raw data. The 2017 Transformer architecture then generalised this success to sequences and underpins nearly everything that followed.</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No single ingredient explains modern AI. Data: digitisation and the web produced enormous corpora, plus curated benchmarks such as ImageNet that let progress be measured. Compute: graphics processors, later specialised accelerators like TPUs, delivered orders-of-magnitude more training throughput at falling cost per operation. Algorithms: backpropagation was old, but practical advances — ReLU, dropout, batch normalisation, Adam, residual connections, and above all attention and the Transformer — made very deep models trainable and parallelisable. Emphasise the convergence point: neural networks existed in the 1980s but lacked data and compute; big data without good architectures would have stalled too. Scaling laws later formalised how performance improves predictably when all three grow together.</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milestone signalled that a domain previously dominated by humans had been matched or surpassed. Deep Blue (1997) won largely through search and hand-tuned evaluation — impressive engineering rather than learning. Watson (2011) showed statistical natural language question answering at speed. AlphaGo (2016) combined deep networks with Monte Carlo tree search and reinforcement learning to conquer a game long thought too intuitive for machines; AlphaZero then learned from self-play alone. AlphaFold (2020) solved protein structure prediction, a fifty-year scientific grand challenge, showing real scientific impact. ChatGPT's release in late 2022 and GPT-4 in 2023 brought general-purpose language capability to hundreds of millions of users. Note the pattern: each milestone was narrow, yet each widened public expectations.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foundation model is trained once on very broad data and then adapted — via fine-tuning, prompting, or retrieval — to many downstream tasks. This reverses the old paradigm of building a bespoke model per task. Examples include GPT and Claude for language, Stable Diffusion and DALL-E for images, and Codex-style models for programming. Reinforcement learning from human feedback aligns raw pre-trained models with useful, safe behaviour. Generative quality has reshaped expectations in writing, design, software development, and customer service. Also flag the limitations that come with this: hallucination, training-data bias, copyright and provenance disputes, and very high training cost concentrated in a few organisations.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Close by summarising the arc: rules gave way to statistical learning; deep learning delivered a step change from 2012; data, compute, and algorithms converged to enable it; milestones from Deep Blue to AlphaFold marked the climb; foundation models now define the frontier. Current directions focus on making AI efficient (small and open-weight models, quantisation, distillation, on-device inference), reliable (retrieval-augmented generation, rigorous evaluation, interpretability, uncertainty estimates), and integrated (agents that call tools, multimodal interfaces, workflow automation). Alongside this sits governance — the EU AI Act, national safety institutes, and sustained work on bias, transparency, and accountability. Invite students to ask which direction they think matters most and why.</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Position this deck within the module. It mainly builds MO3 by giving concrete contemporary systems — AlphaGo, AlphaFold, GPT-4 — to classify as narrow or general using the module's capability criteria. It supports MO4 indirectly by explaining why rule-based expert systems were brittle and expensive, the technical conditions behind the second AI winter, though the economic analysis belongs to the dedicated history session. It seeds MO5 through discussion of hallucination, training-data bias, provenance, and emerging regulation. MO1 and MO2 are handled in the earlier definitions and Turing test sessions; students should connect those frameworks back to the systems surveyed today.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Breakthroughs and Current Trends</a:t>
            </a:r>
          </a:p>
        </p:txBody>
      </p:sp>
      <p:sp>
        <p:nvSpPr>
          <p:cNvPr id="3" name="Content Placeholder 2"/>
          <p:cNvSpPr>
            <a:spLocks noGrp="1"/>
          </p:cNvSpPr>
          <p:nvPr>
            <p:ph idx="1"/>
          </p:nvPr>
        </p:nvSpPr>
        <p:spPr/>
        <p:txBody>
          <a:bodyPr/>
          <a:lstStyle/>
          <a:p>
            <a:pPr algn="ctr">
              <a:buNone/>
            </a:pPr>
            <a:r>
              <a:rPr lang="en-US" dirty="0"/>
              <a:t>How data, compute, and algorithms carried AI from rules to foundation models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Rule-Based Systems to Machine Learning</a:t>
            </a:r>
          </a:p>
        </p:txBody>
      </p:sp>
      <p:sp>
        <p:nvSpPr>
          <p:cNvPr id="3" name="Content Placeholder 2"/>
          <p:cNvSpPr>
            <a:spLocks noGrp="1"/>
          </p:cNvSpPr>
          <p:nvPr>
            <p:ph idx="1"/>
          </p:nvPr>
        </p:nvSpPr>
        <p:spPr/>
        <p:txBody>
          <a:bodyPr/>
          <a:lstStyle/>
          <a:p>
            <a:r>
              <a:rPr lang="en-US" dirty="0"/>
              <a:t>Expert systems encoded human knowledge as explicit if-then rules</a:t>
            </a:r>
          </a:p>
          <a:p>
            <a:r>
              <a:rPr lang="en-US" dirty="0"/>
              <a:t>Brittle: rules failed on noisy, novel, or ambiguous inputs</a:t>
            </a:r>
          </a:p>
          <a:p>
            <a:r>
              <a:rPr lang="en-US" dirty="0"/>
              <a:t>Machine learning infers patterns directly from labelled data</a:t>
            </a:r>
          </a:p>
          <a:p>
            <a:r>
              <a:rPr lang="en-US" dirty="0"/>
              <a:t>Statistical methods scaled where hand-coding knowledge could not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Deep Learning Revolution</a:t>
            </a:r>
          </a:p>
        </p:txBody>
      </p:sp>
      <p:sp>
        <p:nvSpPr>
          <p:cNvPr id="3" name="Content Placeholder 2"/>
          <p:cNvSpPr>
            <a:spLocks noGrp="1"/>
          </p:cNvSpPr>
          <p:nvPr>
            <p:ph idx="1"/>
          </p:nvPr>
        </p:nvSpPr>
        <p:spPr/>
        <p:txBody>
          <a:bodyPr/>
          <a:lstStyle/>
          <a:p>
            <a:r>
              <a:rPr lang="en-US" dirty="0"/>
              <a:t>Many-layered neural networks learn hierarchical representations automatically</a:t>
            </a:r>
          </a:p>
          <a:p>
            <a:r>
              <a:rPr lang="en-US" dirty="0"/>
              <a:t>2012 AlexNet halved ImageNet error, triggering rapid adoption</a:t>
            </a:r>
          </a:p>
          <a:p>
            <a:r>
              <a:rPr lang="en-US" dirty="0"/>
              <a:t>Feature engineering largely replaced by end-to-end learned features</a:t>
            </a:r>
          </a:p>
          <a:p>
            <a:r>
              <a:rPr lang="en-US" dirty="0"/>
              <a:t>Step-change gains in vision, speech, translation, and games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Three Enablers: Data, Compute, Algorithms</a:t>
            </a:r>
          </a:p>
        </p:txBody>
      </p:sp>
      <p:sp>
        <p:nvSpPr>
          <p:cNvPr id="3" name="Content Placeholder 2"/>
          <p:cNvSpPr>
            <a:spLocks noGrp="1"/>
          </p:cNvSpPr>
          <p:nvPr>
            <p:ph idx="1"/>
          </p:nvPr>
        </p:nvSpPr>
        <p:spPr/>
        <p:txBody>
          <a:bodyPr/>
          <a:lstStyle/>
          <a:p>
            <a:r>
              <a:rPr lang="en-US" dirty="0"/>
              <a:t>Data: web-scale text, images, and labelled benchmarks like ImageNet</a:t>
            </a:r>
          </a:p>
          <a:p>
            <a:r>
              <a:rPr lang="en-US" dirty="0"/>
              <a:t>Compute: GPUs, TPUs, and distributed training at massive scale</a:t>
            </a:r>
          </a:p>
          <a:p>
            <a:r>
              <a:rPr lang="en-US" dirty="0"/>
              <a:t>Algorithms: backpropagation, Transformers, attention, better optimisers</a:t>
            </a:r>
          </a:p>
          <a:p>
            <a:r>
              <a:rPr lang="en-US" dirty="0"/>
              <a:t>Convergence — not any single advance — explains the breakthroughs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Landmark Milestones</a:t>
            </a:r>
          </a:p>
        </p:txBody>
      </p:sp>
      <p:sp>
        <p:nvSpPr>
          <p:cNvPr id="3" name="Content Placeholder 2"/>
          <p:cNvSpPr>
            <a:spLocks noGrp="1"/>
          </p:cNvSpPr>
          <p:nvPr>
            <p:ph idx="1"/>
          </p:nvPr>
        </p:nvSpPr>
        <p:spPr/>
        <p:txBody>
          <a:bodyPr/>
          <a:lstStyle/>
          <a:p>
            <a:r>
              <a:rPr lang="en-US" dirty="0"/>
              <a:t>1997: Deep Blue defeats world chess champion Kasparov</a:t>
            </a:r>
          </a:p>
          <a:p>
            <a:r>
              <a:rPr lang="en-US" dirty="0"/>
              <a:t>2011: IBM Watson wins Jeopardy! against human champions</a:t>
            </a:r>
          </a:p>
          <a:p>
            <a:r>
              <a:rPr lang="en-US" dirty="0"/>
              <a:t>2016: AlphaGo beats Lee Sedol at Go</a:t>
            </a:r>
          </a:p>
          <a:p>
            <a:r>
              <a:rPr lang="en-US" dirty="0"/>
              <a:t>2020-2023: AlphaFold, GPT-4, and multimodal assistants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 Models and Generative AI</a:t>
            </a:r>
          </a:p>
        </p:txBody>
      </p:sp>
      <p:sp>
        <p:nvSpPr>
          <p:cNvPr id="3" name="Content Placeholder 2"/>
          <p:cNvSpPr>
            <a:spLocks noGrp="1"/>
          </p:cNvSpPr>
          <p:nvPr>
            <p:ph idx="1"/>
          </p:nvPr>
        </p:nvSpPr>
        <p:spPr/>
        <p:txBody>
          <a:bodyPr/>
          <a:lstStyle/>
          <a:p>
            <a:r>
              <a:rPr lang="en-US" dirty="0"/>
              <a:t>Large models pre-trained broadly, then adapted to many tasks</a:t>
            </a:r>
          </a:p>
          <a:p>
            <a:r>
              <a:rPr lang="en-US" dirty="0"/>
              <a:t>Generative systems produce text, images, code, and audio</a:t>
            </a:r>
          </a:p>
          <a:p>
            <a:r>
              <a:rPr lang="en-US" dirty="0"/>
              <a:t>Fine-tuning, prompting, and RLHF replace task-specific training</a:t>
            </a:r>
          </a:p>
          <a:p>
            <a:r>
              <a:rPr lang="en-US" dirty="0"/>
              <a:t>Multimodal and agentic systems extend the frontier</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Directions and Conclusion</a:t>
            </a:r>
          </a:p>
        </p:txBody>
      </p:sp>
      <p:sp>
        <p:nvSpPr>
          <p:cNvPr id="3" name="Content Placeholder 2"/>
          <p:cNvSpPr>
            <a:spLocks noGrp="1"/>
          </p:cNvSpPr>
          <p:nvPr>
            <p:ph idx="1"/>
          </p:nvPr>
        </p:nvSpPr>
        <p:spPr/>
        <p:txBody>
          <a:bodyPr/>
          <a:lstStyle/>
          <a:p>
            <a:r>
              <a:rPr lang="en-US" dirty="0"/>
              <a:t>Efficiency: smaller models, quantisation, distillation, cheaper inference</a:t>
            </a:r>
          </a:p>
          <a:p>
            <a:r>
              <a:rPr lang="en-US" dirty="0"/>
              <a:t>Reliability: retrieval grounding, evaluation, interpretability, guardrails</a:t>
            </a:r>
          </a:p>
          <a:p>
            <a:r>
              <a:rPr lang="en-US" dirty="0"/>
              <a:t>Integration: agents, tool use, and embedding AI in workflows</a:t>
            </a:r>
          </a:p>
          <a:p>
            <a:r>
              <a:rPr lang="en-US" dirty="0"/>
              <a:t>Governance: regulation, safety research, and responsible deployment</a:t>
            </a:r>
          </a:p>
          <a:p>
            <a:r>
              <a:rPr lang="en-US" dirty="0"/>
              <a:t>Progress came from convergence, not one breakthrough</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directly addressed; four classic definitions covered elsewhere</a:t>
            </a:r>
          </a:p>
          <a:p>
            <a:r>
              <a:rPr lang="en-US" dirty="0"/>
              <a:t>MO2: Not addressed; Turing's imitation game not examined here</a:t>
            </a:r>
          </a:p>
          <a:p>
            <a:r>
              <a:rPr lang="en-US" dirty="0"/>
              <a:t>MO3: Supports it — milestones and foundation models illustrate narrow versus general</a:t>
            </a:r>
          </a:p>
          <a:p>
            <a:r>
              <a:rPr lang="en-US" dirty="0"/>
              <a:t>MO4: Partially — contrasts brittle expert systems with later data-driven success</a:t>
            </a:r>
          </a:p>
          <a:p>
            <a:r>
              <a:rPr lang="en-US" dirty="0"/>
              <a:t>MO5: Partially — generative AI bias, transparency, and governance risks flagged</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Modern Breakthroughs and Current Trends</dc:title>
  <dc:creator>CourseBuilder+</dc:creator>
  <cp:lastModifiedBy>CourseBuilder+</cp:lastModifiedBy>
  <dcterms:created xsi:type="dcterms:W3CDTF">2026-09-28T16:30:40Z</dcterms:created>
  <dcterms:modified xsi:type="dcterms:W3CDTF">2026-09-28T16:30:40Z</dcterms:modified>
</cp:coreProperties>
</file>