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trace how artificial intelligence moved from a philosophical puzzle to a named scientific discipline. We begin with thinkers who asked whether reasoning could be mechanized, move through Alan Turing's foundational work, mark the 1956 Dartmouth conference as AI's official birth, survey the first landmark programs, examine the symbolic paradigm that dominated early research, and close with the bold predictions that outran reality. The goal is historical literacy: understanding why the field asked the questions it did, and why its first wave of optimism collapsed.</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Long before computers, philosophers asked whether thinking could be reduced to mechanical rules. Aristotle's syllogistic logic gave the first formal inference patterns. Hobbes wrote that reasoning is 'nothing but reckoning'; Leibniz dreamed of a universal calculus that could settle disputes by computation, and built a mechanical calculator. In the 19th century George Boole reduced logic to algebra, and Frege developed predicate logic — the ancestor of knowledge representation. In the 1930s Gödel's incompleteness theorems and Church's lambda calculus clarified both the power and the boundaries of formal systems. Mention Babbage and Lovelace: the Analytical Engine raised the question of whether machines could originate ideas. These strands together supplied AI's conceptual toolkit: representation, inference, and computability.</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Alan Turing bridges mathematics and philosophy of mind. His 1936 paper introduced the abstract Turing machine, defining what is computable and establishing that a single universal machine can simulate any other — the theoretical basis of general-purpose computers. In 'Computing Machinery and Intelligence' (1950) he argued the question 'can machines think?' is too vague, and replaced it with the imitation game: an interrogator communicates by teletype with a human and a machine and tries to identify which is which; if the machine is indistinguishable often enough, we should credit it with intelligence. Turing catalogued and rebutted nine objections, including the theological, mathematical, and Lady Lovelace objections. He also suggested machines might be taught like children through learning rather than fully programmed, predicting progress by around 2000. Note his wartime codebreaking work and the 1948 essay on intelligent machinery.</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Dartmouth Summer Research Project on Artificial Intelligence, held at Dartmouth College in 1956, is widely regarded as the founding event of the field. John McCarthy proposed the name 'artificial intelligence' partly to distinguish the effort from cybernetics and automata studies. The 1955 funding proposal to the Rockefeller Foundation asserted that every aspect of learning or intelligence could in principle be described so precisely that a machine could simulate it. The two-month gathering was loosely organized, with participants coming and going, but it assembled the people who would lead AI for decades: Marvin Minsky, Claude Shannon, Nathaniel Rochester, Allen Newell, Herbert Simon, Arthur Samuel, Oliver Selfridge, Ray Solomonoff. Newell and Simon presented the Logic Theorist, arguably the only running 'thinking program' there. The conference gave AI a name, a community, and a research agenda.</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first two decades produced programs that performed tasks assumed to require human intellect. Newell, Simon and Shaw's Logic Theorist proved theorems from Russell and Whitehead's Principia, sometimes more elegantly than the originals. Their General Problem Solver formalized means-ends analysis, reducing differences between current and goal states. Arthur Samuel's checkers player used rote learning and evaluation-function tuning to improve beyond its programmer — an early machine-learning milestone. McCarthy created LISP in 1958, the field's dominant language. Rosenblatt's perceptron (1958) modeled trainable neural units. Weizenbaum's ELIZA (1966) mimicked a Rogerian therapist with pattern matching and unnerved users with how readily they attributed understanding. Winograd's SHRDLU (1970) parsed and executed natural-language commands in a simulated blocks world. DENDRAL and later MYCIN launched expert systems. Each success narrowed to a 'microworld' — a limitation that mattered later.</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Symbolic AI rested on Newell and Simon's physical symbol system hypothesis: a system that manipulates symbols according to rules has the necessary and sufficient means for general intelligent action. Haugeland later nicknamed this 'good old-fashioned AI'. Its tools were logical representation, heuristic search, and hand-coded knowledge; its strength was transparency and explicit reasoning. Early successes fed extraordinary confidence: Simon claimed in 1965 that machines would do any work a man can do within twenty years; Minsky predicted the problem of artificial intelligence would be substantially solved within a generation. Reality intervened. Search spaces exploded combinatorially, machine translation failed, commonsense knowledge proved vast and hard to encode, Minsky and Papert's critique stalled perceptron research, and microworld programs did not generalize. The 1973 Lighthill report in Britain and US DARPA reductions cut funding sharply, producing the AI winter of roughly 1974 to 1980 — a pattern repeated when the expert-system market collapsed around 1987.</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Pull the threads together. AI did not begin in 1956; it inherited centuries of work on formalizing reasoning, culminating in Turing's computability results and his operational reframing of machine intelligence. Dartmouth converted scattered efforts into a discipline with a name and a shared agenda. The symbolic paradigm then delivered genuine landmarks — theorem proving, game playing, natural-language dialogue, early expert systems — but each depended on constrained domains and hand-built knowledge. The mismatch between confident public predictions and actual scaling limits explains the boom-and-bust funding cycles that define AI's history. The lesson for students: evaluate claims about AI capability against the breadth of the domain, the source of the knowledge, and the demonstrated generalization.</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Clarify scope for students. This presentation directly supports MO2 by detailing Turing's imitation game as an operational test, and MO4 by analyzing the technical and economic causes of the 1974-1980 winter and noting the 1987-1993 expert-system collapse. It provides background but not full coverage for MO1 and MO3: the thinking/acting and human/rational axes, and the weak-versus-strong classification criteria, are treated in separate sessions, though the microworld brittleness discussed here foreshadows the narrow-AI concept. MO5, ethical risk evaluation, is not addressed here; ELIZA's user reactions can serve as a bridge to that later discussion.</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Origins and Early History of AI</a:t>
            </a:r>
          </a:p>
        </p:txBody>
      </p:sp>
      <p:sp>
        <p:nvSpPr>
          <p:cNvPr id="3" name="Content Placeholder 2"/>
          <p:cNvSpPr>
            <a:spLocks noGrp="1"/>
          </p:cNvSpPr>
          <p:nvPr>
            <p:ph idx="1"/>
          </p:nvPr>
        </p:nvSpPr>
        <p:spPr/>
        <p:txBody>
          <a:bodyPr/>
          <a:lstStyle/>
          <a:p>
            <a:pPr algn="ctr">
              <a:buNone/>
            </a:pPr>
            <a:r>
              <a:rPr lang="en-US" dirty="0"/>
              <a:t>Tracing AI from ancient logic to the symbolic era's rise and retreat</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Philosophical and Mathematical Roots</a:t>
            </a:r>
          </a:p>
        </p:txBody>
      </p:sp>
      <p:sp>
        <p:nvSpPr>
          <p:cNvPr id="3" name="Content Placeholder 2"/>
          <p:cNvSpPr>
            <a:spLocks noGrp="1"/>
          </p:cNvSpPr>
          <p:nvPr>
            <p:ph idx="1"/>
          </p:nvPr>
        </p:nvSpPr>
        <p:spPr/>
        <p:txBody>
          <a:bodyPr/>
          <a:lstStyle/>
          <a:p>
            <a:r>
              <a:rPr lang="en-US" dirty="0"/>
              <a:t>Aristotle's syllogisms: first formal rules for valid reasoning</a:t>
            </a:r>
          </a:p>
          <a:p>
            <a:r>
              <a:rPr lang="en-US" dirty="0"/>
              <a:t>Hobbes and Leibniz imagined reasoning as calculation</a:t>
            </a:r>
          </a:p>
          <a:p>
            <a:r>
              <a:rPr lang="en-US" dirty="0"/>
              <a:t>Boole and Frege formalized logic algebraically</a:t>
            </a:r>
          </a:p>
          <a:p>
            <a:r>
              <a:rPr lang="en-US" dirty="0"/>
              <a:t>Gödel and Church defined limits of formal systems</a:t>
            </a:r>
          </a:p>
          <a:p>
            <a:r>
              <a:rPr lang="en-US" dirty="0"/>
              <a:t>Mechanical calculators hinted at automated thought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Turing and the Foundations of Machine Intelligence</a:t>
            </a:r>
          </a:p>
        </p:txBody>
      </p:sp>
      <p:sp>
        <p:nvSpPr>
          <p:cNvPr id="3" name="Content Placeholder 2"/>
          <p:cNvSpPr>
            <a:spLocks noGrp="1"/>
          </p:cNvSpPr>
          <p:nvPr>
            <p:ph idx="1"/>
          </p:nvPr>
        </p:nvSpPr>
        <p:spPr/>
        <p:txBody>
          <a:bodyPr/>
          <a:lstStyle/>
          <a:p>
            <a:r>
              <a:rPr lang="en-US" dirty="0"/>
              <a:t>1936: Turing machine defines computation and computability</a:t>
            </a:r>
          </a:p>
          <a:p>
            <a:r>
              <a:rPr lang="en-US" dirty="0"/>
              <a:t>Universal machine idea underlies all stored-program computers</a:t>
            </a:r>
          </a:p>
          <a:p>
            <a:r>
              <a:rPr lang="en-US" dirty="0"/>
              <a:t>1950 paper: "Can machines think?" reframed operationally</a:t>
            </a:r>
          </a:p>
          <a:p>
            <a:r>
              <a:rPr lang="en-US" dirty="0"/>
              <a:t>Imitation game: judge distinguishes human from machine via text</a:t>
            </a:r>
          </a:p>
          <a:p>
            <a:r>
              <a:rPr lang="en-US" dirty="0"/>
              <a:t>Anticipated objections; proposed learning machines and child-education analogy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1956 Dartmouth Conference</a:t>
            </a:r>
          </a:p>
        </p:txBody>
      </p:sp>
      <p:sp>
        <p:nvSpPr>
          <p:cNvPr id="3" name="Content Placeholder 2"/>
          <p:cNvSpPr>
            <a:spLocks noGrp="1"/>
          </p:cNvSpPr>
          <p:nvPr>
            <p:ph idx="1"/>
          </p:nvPr>
        </p:nvSpPr>
        <p:spPr/>
        <p:txBody>
          <a:bodyPr/>
          <a:lstStyle/>
          <a:p>
            <a:r>
              <a:rPr lang="en-US" dirty="0"/>
              <a:t>Summer workshop organized by McCarthy, Minsky, Rochester, Shannon</a:t>
            </a:r>
          </a:p>
          <a:p>
            <a:r>
              <a:rPr lang="en-US" dirty="0"/>
              <a:t>McCarthy coined the term "artificial intelligence"</a:t>
            </a:r>
          </a:p>
          <a:p>
            <a:r>
              <a:rPr lang="en-US" dirty="0"/>
              <a:t>Proposal: every aspect of learning can be precisely described</a:t>
            </a:r>
          </a:p>
          <a:p>
            <a:r>
              <a:rPr lang="en-US" dirty="0"/>
              <a:t>Attendees included Newell, Simon, Samuel, Selfridge</a:t>
            </a:r>
          </a:p>
          <a:p>
            <a:r>
              <a:rPr lang="en-US" dirty="0"/>
              <a:t>Set the field's agenda: language, reasoning, learning, self-improvement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Early Programs and Demonstrations</a:t>
            </a:r>
          </a:p>
        </p:txBody>
      </p:sp>
      <p:sp>
        <p:nvSpPr>
          <p:cNvPr id="3" name="Content Placeholder 2"/>
          <p:cNvSpPr>
            <a:spLocks noGrp="1"/>
          </p:cNvSpPr>
          <p:nvPr>
            <p:ph idx="1"/>
          </p:nvPr>
        </p:nvSpPr>
        <p:spPr/>
        <p:txBody>
          <a:bodyPr/>
          <a:lstStyle/>
          <a:p>
            <a:r>
              <a:rPr lang="en-US" dirty="0"/>
              <a:t>Logic Theorist (1956) proved theorems from Principia Mathematica</a:t>
            </a:r>
          </a:p>
          <a:p>
            <a:r>
              <a:rPr lang="en-US" dirty="0"/>
              <a:t>General Problem Solver: means-ends reasoning across domains</a:t>
            </a:r>
          </a:p>
          <a:p>
            <a:r>
              <a:rPr lang="en-US" dirty="0"/>
              <a:t>Samuel's checkers program learned to beat its author</a:t>
            </a:r>
          </a:p>
          <a:p>
            <a:r>
              <a:rPr lang="en-US" dirty="0"/>
              <a:t>ELIZA simulated a therapist; SHRDLU understood blocks-world language</a:t>
            </a:r>
          </a:p>
          <a:p>
            <a:r>
              <a:rPr lang="en-US" dirty="0"/>
              <a:t>Perceptron and DENDRAL showed learning and expert reasoning</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Symbolic AI and the Limits of Early Optimism</a:t>
            </a:r>
          </a:p>
        </p:txBody>
      </p:sp>
      <p:sp>
        <p:nvSpPr>
          <p:cNvPr id="3" name="Content Placeholder 2"/>
          <p:cNvSpPr>
            <a:spLocks noGrp="1"/>
          </p:cNvSpPr>
          <p:nvPr>
            <p:ph idx="1"/>
          </p:nvPr>
        </p:nvSpPr>
        <p:spPr/>
        <p:txBody>
          <a:bodyPr/>
          <a:lstStyle/>
          <a:p>
            <a:r>
              <a:rPr lang="en-US" dirty="0"/>
              <a:t>Physical symbol system hypothesis: intelligence is symbol manipulation</a:t>
            </a:r>
          </a:p>
          <a:p>
            <a:r>
              <a:rPr lang="en-US" dirty="0"/>
              <a:t>"GOFAI": explicit rules, search, and knowledge representation</a:t>
            </a:r>
          </a:p>
          <a:p>
            <a:r>
              <a:rPr lang="en-US" dirty="0"/>
              <a:t>Simon predicted machines matching human work within twenty years</a:t>
            </a:r>
          </a:p>
          <a:p>
            <a:r>
              <a:rPr lang="en-US" dirty="0"/>
              <a:t>Combinatorial explosion, commonsense knowledge, brittle microworlds blocked scaling</a:t>
            </a:r>
          </a:p>
          <a:p>
            <a:r>
              <a:rPr lang="en-US" dirty="0"/>
              <a:t>Lighthill report and DARPA cuts triggered the first AI winter</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Conclusion</a:t>
            </a:r>
          </a:p>
        </p:txBody>
      </p:sp>
      <p:sp>
        <p:nvSpPr>
          <p:cNvPr id="3" name="Content Placeholder 2"/>
          <p:cNvSpPr>
            <a:spLocks noGrp="1"/>
          </p:cNvSpPr>
          <p:nvPr>
            <p:ph idx="1"/>
          </p:nvPr>
        </p:nvSpPr>
        <p:spPr/>
        <p:txBody>
          <a:bodyPr/>
          <a:lstStyle/>
          <a:p>
            <a:r>
              <a:rPr lang="en-US" dirty="0"/>
              <a:t>AI inherited logic, computability, and mechanized-reasoning ideas</a:t>
            </a:r>
          </a:p>
          <a:p>
            <a:r>
              <a:rPr lang="en-US" dirty="0"/>
              <a:t>Turing supplied both a computation model and a behavioral test</a:t>
            </a:r>
          </a:p>
          <a:p>
            <a:r>
              <a:rPr lang="en-US" dirty="0"/>
              <a:t>Dartmouth 1956 named the field and set its agenda</a:t>
            </a:r>
          </a:p>
          <a:p>
            <a:r>
              <a:rPr lang="en-US" dirty="0"/>
              <a:t>Symbolic programs proved feasibility within narrow microworlds</a:t>
            </a:r>
          </a:p>
          <a:p>
            <a:r>
              <a:rPr lang="en-US" dirty="0"/>
              <a:t>Overpromising plus technical limits produced funding winters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Not addressed directly; historical context precedes the four definitional approaches</a:t>
            </a:r>
          </a:p>
          <a:p>
            <a:r>
              <a:rPr lang="en-US" dirty="0"/>
              <a:t>MO2: Imitation game procedure explained in Turing slide and notes</a:t>
            </a:r>
          </a:p>
          <a:p>
            <a:r>
              <a:rPr lang="en-US" dirty="0"/>
              <a:t>MO3: Not addressed; narrow microworld limits hint at weak AI</a:t>
            </a:r>
          </a:p>
          <a:p>
            <a:r>
              <a:rPr lang="en-US" dirty="0"/>
              <a:t>MO4: Lighthill report, funding cuts, and technical barriers examined</a:t>
            </a:r>
          </a:p>
          <a:p>
            <a:r>
              <a:rPr lang="en-US" dirty="0"/>
              <a:t>MO5: Not addressed; ethics covered elsewhere in the module</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8</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Origins and Early History of AI</dc:title>
  <dc:creator>CourseBuilder+</dc:creator>
  <cp:lastModifiedBy>CourseBuilder+</cp:lastModifiedBy>
  <dcterms:created xsi:type="dcterms:W3CDTF">2026-09-28T16:28:00Z</dcterms:created>
  <dcterms:modified xsi:type="dcterms:W3CDTF">2026-09-28T16:28:00Z</dcterms:modified>
</cp:coreProperties>
</file>