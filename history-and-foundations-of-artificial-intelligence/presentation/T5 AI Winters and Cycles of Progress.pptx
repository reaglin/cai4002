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6" d="100"/>
          <a:sy n="86" d="100"/>
        </p:scale>
        <p:origin x="102" y="3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nald Eaglin" userId="c6b87d18-4edc-427f-8929-d997ad231435" providerId="ADAL" clId="{F7EFB3B1-56A6-4C16-B59D-F434F55AC407}"/>
    <pc:docChg chg="custSel modSld">
      <pc:chgData name="Ronald Eaglin" userId="c6b87d18-4edc-427f-8929-d997ad231435" providerId="ADAL" clId="{F7EFB3B1-56A6-4C16-B59D-F434F55AC407}" dt="2026-10-16T18:19:49.504" v="1" actId="26606"/>
      <pc:docMkLst>
        <pc:docMk/>
      </pc:docMkLst>
      <pc:sldChg chg="addSp modSp mod setBg">
        <pc:chgData name="Ronald Eaglin" userId="c6b87d18-4edc-427f-8929-d997ad231435" providerId="ADAL" clId="{F7EFB3B1-56A6-4C16-B59D-F434F55AC407}" dt="2026-10-16T18:19:43.017" v="0" actId="26606"/>
        <pc:sldMkLst>
          <pc:docMk/>
          <pc:sldMk cId="0" sldId="256"/>
        </pc:sldMkLst>
        <pc:spChg chg="mod">
          <ac:chgData name="Ronald Eaglin" userId="c6b87d18-4edc-427f-8929-d997ad231435" providerId="ADAL" clId="{F7EFB3B1-56A6-4C16-B59D-F434F55AC407}" dt="2026-10-16T18:19:43.017" v="0" actId="26606"/>
          <ac:spMkLst>
            <pc:docMk/>
            <pc:sldMk cId="0" sldId="256"/>
            <ac:spMk id="2" creationId="{00000000-0000-0000-0000-000000000000}"/>
          </ac:spMkLst>
        </pc:spChg>
        <pc:spChg chg="mod">
          <ac:chgData name="Ronald Eaglin" userId="c6b87d18-4edc-427f-8929-d997ad231435" providerId="ADAL" clId="{F7EFB3B1-56A6-4C16-B59D-F434F55AC407}" dt="2026-10-16T18:19:43.017" v="0" actId="26606"/>
          <ac:spMkLst>
            <pc:docMk/>
            <pc:sldMk cId="0" sldId="256"/>
            <ac:spMk id="3" creationId="{00000000-0000-0000-0000-000000000000}"/>
          </ac:spMkLst>
        </pc:spChg>
        <pc:spChg chg="add">
          <ac:chgData name="Ronald Eaglin" userId="c6b87d18-4edc-427f-8929-d997ad231435" providerId="ADAL" clId="{F7EFB3B1-56A6-4C16-B59D-F434F55AC407}" dt="2026-10-16T18:19:43.017" v="0" actId="26606"/>
          <ac:spMkLst>
            <pc:docMk/>
            <pc:sldMk cId="0" sldId="256"/>
            <ac:spMk id="8" creationId="{C2554CA6-288E-4202-BC52-2E5A8F0C0AED}"/>
          </ac:spMkLst>
        </pc:spChg>
        <pc:spChg chg="add">
          <ac:chgData name="Ronald Eaglin" userId="c6b87d18-4edc-427f-8929-d997ad231435" providerId="ADAL" clId="{F7EFB3B1-56A6-4C16-B59D-F434F55AC407}" dt="2026-10-16T18:19:43.017" v="0" actId="26606"/>
          <ac:spMkLst>
            <pc:docMk/>
            <pc:sldMk cId="0" sldId="256"/>
            <ac:spMk id="10" creationId="{B10BB131-AC8E-4A8E-A5D1-36260F720C3B}"/>
          </ac:spMkLst>
        </pc:spChg>
        <pc:spChg chg="add">
          <ac:chgData name="Ronald Eaglin" userId="c6b87d18-4edc-427f-8929-d997ad231435" providerId="ADAL" clId="{F7EFB3B1-56A6-4C16-B59D-F434F55AC407}" dt="2026-10-16T18:19:43.017" v="0" actId="26606"/>
          <ac:spMkLst>
            <pc:docMk/>
            <pc:sldMk cId="0" sldId="256"/>
            <ac:spMk id="12" creationId="{5B7778FC-632E-4DCA-A7CB-0D7731CCF970}"/>
          </ac:spMkLst>
        </pc:spChg>
        <pc:spChg chg="add">
          <ac:chgData name="Ronald Eaglin" userId="c6b87d18-4edc-427f-8929-d997ad231435" providerId="ADAL" clId="{F7EFB3B1-56A6-4C16-B59D-F434F55AC407}" dt="2026-10-16T18:19:43.017" v="0" actId="26606"/>
          <ac:spMkLst>
            <pc:docMk/>
            <pc:sldMk cId="0" sldId="256"/>
            <ac:spMk id="14" creationId="{FA23A907-97FB-4A8F-880A-DD77401C4296}"/>
          </ac:spMkLst>
        </pc:spChg>
      </pc:sldChg>
      <pc:sldChg chg="addSp delSp modSp mod setBg">
        <pc:chgData name="Ronald Eaglin" userId="c6b87d18-4edc-427f-8929-d997ad231435" providerId="ADAL" clId="{F7EFB3B1-56A6-4C16-B59D-F434F55AC407}" dt="2026-10-16T18:19:49.504" v="1" actId="26606"/>
        <pc:sldMkLst>
          <pc:docMk/>
          <pc:sldMk cId="0" sldId="257"/>
        </pc:sldMkLst>
        <pc:spChg chg="mod">
          <ac:chgData name="Ronald Eaglin" userId="c6b87d18-4edc-427f-8929-d997ad231435" providerId="ADAL" clId="{F7EFB3B1-56A6-4C16-B59D-F434F55AC407}" dt="2026-10-16T18:19:49.504" v="1" actId="26606"/>
          <ac:spMkLst>
            <pc:docMk/>
            <pc:sldMk cId="0" sldId="257"/>
            <ac:spMk id="2" creationId="{00000000-0000-0000-0000-000000000000}"/>
          </ac:spMkLst>
        </pc:spChg>
        <pc:spChg chg="del">
          <ac:chgData name="Ronald Eaglin" userId="c6b87d18-4edc-427f-8929-d997ad231435" providerId="ADAL" clId="{F7EFB3B1-56A6-4C16-B59D-F434F55AC407}" dt="2026-10-16T18:19:49.504" v="1" actId="26606"/>
          <ac:spMkLst>
            <pc:docMk/>
            <pc:sldMk cId="0" sldId="257"/>
            <ac:spMk id="3" creationId="{00000000-0000-0000-0000-000000000000}"/>
          </ac:spMkLst>
        </pc:spChg>
        <pc:spChg chg="add">
          <ac:chgData name="Ronald Eaglin" userId="c6b87d18-4edc-427f-8929-d997ad231435" providerId="ADAL" clId="{F7EFB3B1-56A6-4C16-B59D-F434F55AC407}" dt="2026-10-16T18:19:49.504" v="1" actId="26606"/>
          <ac:spMkLst>
            <pc:docMk/>
            <pc:sldMk cId="0" sldId="257"/>
            <ac:spMk id="9" creationId="{C05CBC3C-2E5A-4839-8B9B-2E5A6ADF0F58}"/>
          </ac:spMkLst>
        </pc:spChg>
        <pc:spChg chg="add">
          <ac:chgData name="Ronald Eaglin" userId="c6b87d18-4edc-427f-8929-d997ad231435" providerId="ADAL" clId="{F7EFB3B1-56A6-4C16-B59D-F434F55AC407}" dt="2026-10-16T18:19:49.504" v="1" actId="26606"/>
          <ac:spMkLst>
            <pc:docMk/>
            <pc:sldMk cId="0" sldId="257"/>
            <ac:spMk id="11" creationId="{DB5B423A-57CC-4C58-AA26-8E2E862B03A0}"/>
          </ac:spMkLst>
        </pc:spChg>
        <pc:graphicFrameChg chg="add">
          <ac:chgData name="Ronald Eaglin" userId="c6b87d18-4edc-427f-8929-d997ad231435" providerId="ADAL" clId="{F7EFB3B1-56A6-4C16-B59D-F434F55AC407}" dt="2026-10-16T18:19:49.504" v="1" actId="26606"/>
          <ac:graphicFrameMkLst>
            <pc:docMk/>
            <pc:sldMk cId="0" sldId="257"/>
            <ac:graphicFrameMk id="5" creationId="{211F876E-7314-B580-D494-0D77F83517AE}"/>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CBFF9C9-7D52-4E19-8855-51A653DA9CE0}"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5AE49A12-D260-4810-BECD-FFDF7ACADA64}">
      <dgm:prSet/>
      <dgm:spPr/>
      <dgm:t>
        <a:bodyPr/>
        <a:lstStyle/>
        <a:p>
          <a:r>
            <a:rPr lang="en-US"/>
            <a:t>AI progress is cyclical, not a straight upward line</a:t>
          </a:r>
        </a:p>
      </dgm:t>
    </dgm:pt>
    <dgm:pt modelId="{217EA87A-9A51-49F9-A1A4-153A9BEED941}" type="parTrans" cxnId="{4DEE4B38-25AE-4616-A426-3206D1698546}">
      <dgm:prSet/>
      <dgm:spPr/>
      <dgm:t>
        <a:bodyPr/>
        <a:lstStyle/>
        <a:p>
          <a:endParaRPr lang="en-US"/>
        </a:p>
      </dgm:t>
    </dgm:pt>
    <dgm:pt modelId="{614383F1-2CA4-486E-BD11-E15C0E57EA4B}" type="sibTrans" cxnId="{4DEE4B38-25AE-4616-A426-3206D1698546}">
      <dgm:prSet/>
      <dgm:spPr/>
      <dgm:t>
        <a:bodyPr/>
        <a:lstStyle/>
        <a:p>
          <a:endParaRPr lang="en-US"/>
        </a:p>
      </dgm:t>
    </dgm:pt>
    <dgm:pt modelId="{63B7DA53-67BD-4660-A51F-94DE2E9B9388}">
      <dgm:prSet/>
      <dgm:spPr/>
      <dgm:t>
        <a:bodyPr/>
        <a:lstStyle/>
        <a:p>
          <a:r>
            <a:rPr lang="en-US"/>
            <a:t>Cycle: breakthrough, hype, overpromise, disappointment, funding collapse</a:t>
          </a:r>
        </a:p>
      </dgm:t>
    </dgm:pt>
    <dgm:pt modelId="{A7EC64BC-081C-44F0-A77C-910B669EECE8}" type="parTrans" cxnId="{4FC6EC40-C71C-4869-9736-4031BBA613A7}">
      <dgm:prSet/>
      <dgm:spPr/>
      <dgm:t>
        <a:bodyPr/>
        <a:lstStyle/>
        <a:p>
          <a:endParaRPr lang="en-US"/>
        </a:p>
      </dgm:t>
    </dgm:pt>
    <dgm:pt modelId="{90C1431C-CDD8-40D7-9696-4550FA0FEE8C}" type="sibTrans" cxnId="{4FC6EC40-C71C-4869-9736-4031BBA613A7}">
      <dgm:prSet/>
      <dgm:spPr/>
      <dgm:t>
        <a:bodyPr/>
        <a:lstStyle/>
        <a:p>
          <a:endParaRPr lang="en-US"/>
        </a:p>
      </dgm:t>
    </dgm:pt>
    <dgm:pt modelId="{DA82F6B8-90F8-4344-8C66-D9963ABC4718}">
      <dgm:prSet/>
      <dgm:spPr/>
      <dgm:t>
        <a:bodyPr/>
        <a:lstStyle/>
        <a:p>
          <a:r>
            <a:rPr lang="en-US"/>
            <a:t>'AI winter' means sustained cuts in funding and interest</a:t>
          </a:r>
        </a:p>
      </dgm:t>
    </dgm:pt>
    <dgm:pt modelId="{DE67D9E0-CE55-487C-B1AC-74FE27DB8B07}" type="parTrans" cxnId="{8F66FEF3-5D7E-4A81-B947-73CE2C59DBD3}">
      <dgm:prSet/>
      <dgm:spPr/>
      <dgm:t>
        <a:bodyPr/>
        <a:lstStyle/>
        <a:p>
          <a:endParaRPr lang="en-US"/>
        </a:p>
      </dgm:t>
    </dgm:pt>
    <dgm:pt modelId="{276FECA6-7797-467F-8CC8-9127F5F5D2DC}" type="sibTrans" cxnId="{8F66FEF3-5D7E-4A81-B947-73CE2C59DBD3}">
      <dgm:prSet/>
      <dgm:spPr/>
      <dgm:t>
        <a:bodyPr/>
        <a:lstStyle/>
        <a:p>
          <a:endParaRPr lang="en-US"/>
        </a:p>
      </dgm:t>
    </dgm:pt>
    <dgm:pt modelId="{8B4047EE-5885-441F-A8B4-2102BFB1E95E}">
      <dgm:prSet/>
      <dgm:spPr/>
      <dgm:t>
        <a:bodyPr/>
        <a:lstStyle/>
        <a:p>
          <a:r>
            <a:rPr lang="en-US"/>
            <a:t>Pattern repeats because expectations outrun technical reality</a:t>
          </a:r>
        </a:p>
      </dgm:t>
    </dgm:pt>
    <dgm:pt modelId="{6B2E7593-FAB8-4C66-85DF-21BE397611D5}" type="parTrans" cxnId="{5080F39F-48D2-4898-9089-5D62C1A0A3F0}">
      <dgm:prSet/>
      <dgm:spPr/>
      <dgm:t>
        <a:bodyPr/>
        <a:lstStyle/>
        <a:p>
          <a:endParaRPr lang="en-US"/>
        </a:p>
      </dgm:t>
    </dgm:pt>
    <dgm:pt modelId="{6D47D18C-BDB8-419A-8C72-B443C45CBFD2}" type="sibTrans" cxnId="{5080F39F-48D2-4898-9089-5D62C1A0A3F0}">
      <dgm:prSet/>
      <dgm:spPr/>
      <dgm:t>
        <a:bodyPr/>
        <a:lstStyle/>
        <a:p>
          <a:endParaRPr lang="en-US"/>
        </a:p>
      </dgm:t>
    </dgm:pt>
    <dgm:pt modelId="{66D4ED4D-2AA1-49EB-9E6D-B9383C208A7C}">
      <dgm:prSet/>
      <dgm:spPr/>
      <dgm:t>
        <a:bodyPr/>
        <a:lstStyle/>
        <a:p>
          <a:r>
            <a:rPr lang="en-US"/>
            <a:t>Understanding cycles explains today's field structure and vocabulary</a:t>
          </a:r>
        </a:p>
      </dgm:t>
    </dgm:pt>
    <dgm:pt modelId="{35D6470E-B375-416A-8A3A-44572DAC5454}" type="parTrans" cxnId="{A425F6B2-555E-4B81-87CE-9D85BA965D8A}">
      <dgm:prSet/>
      <dgm:spPr/>
      <dgm:t>
        <a:bodyPr/>
        <a:lstStyle/>
        <a:p>
          <a:endParaRPr lang="en-US"/>
        </a:p>
      </dgm:t>
    </dgm:pt>
    <dgm:pt modelId="{48173F67-9961-47D6-B7FC-EFCEEC3D23D5}" type="sibTrans" cxnId="{A425F6B2-555E-4B81-87CE-9D85BA965D8A}">
      <dgm:prSet/>
      <dgm:spPr/>
      <dgm:t>
        <a:bodyPr/>
        <a:lstStyle/>
        <a:p>
          <a:endParaRPr lang="en-US"/>
        </a:p>
      </dgm:t>
    </dgm:pt>
    <dgm:pt modelId="{08340771-1E08-499D-B061-F6E9817A5989}" type="pres">
      <dgm:prSet presAssocID="{2CBFF9C9-7D52-4E19-8855-51A653DA9CE0}" presName="linear" presStyleCnt="0">
        <dgm:presLayoutVars>
          <dgm:animLvl val="lvl"/>
          <dgm:resizeHandles val="exact"/>
        </dgm:presLayoutVars>
      </dgm:prSet>
      <dgm:spPr/>
    </dgm:pt>
    <dgm:pt modelId="{1D0C178C-8A63-4E6C-A33C-6B65F9F9C5DA}" type="pres">
      <dgm:prSet presAssocID="{5AE49A12-D260-4810-BECD-FFDF7ACADA64}" presName="parentText" presStyleLbl="node1" presStyleIdx="0" presStyleCnt="5">
        <dgm:presLayoutVars>
          <dgm:chMax val="0"/>
          <dgm:bulletEnabled val="1"/>
        </dgm:presLayoutVars>
      </dgm:prSet>
      <dgm:spPr/>
    </dgm:pt>
    <dgm:pt modelId="{45AF726E-64EC-4DD0-AFA4-0B0F1A60AB5D}" type="pres">
      <dgm:prSet presAssocID="{614383F1-2CA4-486E-BD11-E15C0E57EA4B}" presName="spacer" presStyleCnt="0"/>
      <dgm:spPr/>
    </dgm:pt>
    <dgm:pt modelId="{9A78BA5F-3F61-4966-8D40-33CC1F8A5F05}" type="pres">
      <dgm:prSet presAssocID="{63B7DA53-67BD-4660-A51F-94DE2E9B9388}" presName="parentText" presStyleLbl="node1" presStyleIdx="1" presStyleCnt="5">
        <dgm:presLayoutVars>
          <dgm:chMax val="0"/>
          <dgm:bulletEnabled val="1"/>
        </dgm:presLayoutVars>
      </dgm:prSet>
      <dgm:spPr/>
    </dgm:pt>
    <dgm:pt modelId="{BDDB3D8D-6D53-4D90-8012-0DC1779B6936}" type="pres">
      <dgm:prSet presAssocID="{90C1431C-CDD8-40D7-9696-4550FA0FEE8C}" presName="spacer" presStyleCnt="0"/>
      <dgm:spPr/>
    </dgm:pt>
    <dgm:pt modelId="{3AC64C58-049E-48B7-A4B1-7FFDCC7B733D}" type="pres">
      <dgm:prSet presAssocID="{DA82F6B8-90F8-4344-8C66-D9963ABC4718}" presName="parentText" presStyleLbl="node1" presStyleIdx="2" presStyleCnt="5">
        <dgm:presLayoutVars>
          <dgm:chMax val="0"/>
          <dgm:bulletEnabled val="1"/>
        </dgm:presLayoutVars>
      </dgm:prSet>
      <dgm:spPr/>
    </dgm:pt>
    <dgm:pt modelId="{6AD94703-60BE-48BC-AA56-193E5B63756F}" type="pres">
      <dgm:prSet presAssocID="{276FECA6-7797-467F-8CC8-9127F5F5D2DC}" presName="spacer" presStyleCnt="0"/>
      <dgm:spPr/>
    </dgm:pt>
    <dgm:pt modelId="{71E73A01-88FB-4041-949C-EEAF12DE5BC9}" type="pres">
      <dgm:prSet presAssocID="{8B4047EE-5885-441F-A8B4-2102BFB1E95E}" presName="parentText" presStyleLbl="node1" presStyleIdx="3" presStyleCnt="5">
        <dgm:presLayoutVars>
          <dgm:chMax val="0"/>
          <dgm:bulletEnabled val="1"/>
        </dgm:presLayoutVars>
      </dgm:prSet>
      <dgm:spPr/>
    </dgm:pt>
    <dgm:pt modelId="{A8B1970D-BEC6-4DF4-9CF8-6BBAE056E610}" type="pres">
      <dgm:prSet presAssocID="{6D47D18C-BDB8-419A-8C72-B443C45CBFD2}" presName="spacer" presStyleCnt="0"/>
      <dgm:spPr/>
    </dgm:pt>
    <dgm:pt modelId="{144AC980-0E58-44DE-9F3D-37C6ECEE8D48}" type="pres">
      <dgm:prSet presAssocID="{66D4ED4D-2AA1-49EB-9E6D-B9383C208A7C}" presName="parentText" presStyleLbl="node1" presStyleIdx="4" presStyleCnt="5">
        <dgm:presLayoutVars>
          <dgm:chMax val="0"/>
          <dgm:bulletEnabled val="1"/>
        </dgm:presLayoutVars>
      </dgm:prSet>
      <dgm:spPr/>
    </dgm:pt>
  </dgm:ptLst>
  <dgm:cxnLst>
    <dgm:cxn modelId="{90E4BC10-3530-4C27-AB72-CE570B4BDD16}" type="presOf" srcId="{DA82F6B8-90F8-4344-8C66-D9963ABC4718}" destId="{3AC64C58-049E-48B7-A4B1-7FFDCC7B733D}" srcOrd="0" destOrd="0" presId="urn:microsoft.com/office/officeart/2005/8/layout/vList2"/>
    <dgm:cxn modelId="{2E379828-6C8D-4E0E-BEEE-6B896BC2D513}" type="presOf" srcId="{2CBFF9C9-7D52-4E19-8855-51A653DA9CE0}" destId="{08340771-1E08-499D-B061-F6E9817A5989}" srcOrd="0" destOrd="0" presId="urn:microsoft.com/office/officeart/2005/8/layout/vList2"/>
    <dgm:cxn modelId="{4DEE4B38-25AE-4616-A426-3206D1698546}" srcId="{2CBFF9C9-7D52-4E19-8855-51A653DA9CE0}" destId="{5AE49A12-D260-4810-BECD-FFDF7ACADA64}" srcOrd="0" destOrd="0" parTransId="{217EA87A-9A51-49F9-A1A4-153A9BEED941}" sibTransId="{614383F1-2CA4-486E-BD11-E15C0E57EA4B}"/>
    <dgm:cxn modelId="{4FC6EC40-C71C-4869-9736-4031BBA613A7}" srcId="{2CBFF9C9-7D52-4E19-8855-51A653DA9CE0}" destId="{63B7DA53-67BD-4660-A51F-94DE2E9B9388}" srcOrd="1" destOrd="0" parTransId="{A7EC64BC-081C-44F0-A77C-910B669EECE8}" sibTransId="{90C1431C-CDD8-40D7-9696-4550FA0FEE8C}"/>
    <dgm:cxn modelId="{E5004056-9436-406A-B350-E8253146CBF6}" type="presOf" srcId="{63B7DA53-67BD-4660-A51F-94DE2E9B9388}" destId="{9A78BA5F-3F61-4966-8D40-33CC1F8A5F05}" srcOrd="0" destOrd="0" presId="urn:microsoft.com/office/officeart/2005/8/layout/vList2"/>
    <dgm:cxn modelId="{5080F39F-48D2-4898-9089-5D62C1A0A3F0}" srcId="{2CBFF9C9-7D52-4E19-8855-51A653DA9CE0}" destId="{8B4047EE-5885-441F-A8B4-2102BFB1E95E}" srcOrd="3" destOrd="0" parTransId="{6B2E7593-FAB8-4C66-85DF-21BE397611D5}" sibTransId="{6D47D18C-BDB8-419A-8C72-B443C45CBFD2}"/>
    <dgm:cxn modelId="{A425F6B2-555E-4B81-87CE-9D85BA965D8A}" srcId="{2CBFF9C9-7D52-4E19-8855-51A653DA9CE0}" destId="{66D4ED4D-2AA1-49EB-9E6D-B9383C208A7C}" srcOrd="4" destOrd="0" parTransId="{35D6470E-B375-416A-8A3A-44572DAC5454}" sibTransId="{48173F67-9961-47D6-B7FC-EFCEEC3D23D5}"/>
    <dgm:cxn modelId="{6DAEFDB2-00CA-45C0-963D-62791E99E46D}" type="presOf" srcId="{66D4ED4D-2AA1-49EB-9E6D-B9383C208A7C}" destId="{144AC980-0E58-44DE-9F3D-37C6ECEE8D48}" srcOrd="0" destOrd="0" presId="urn:microsoft.com/office/officeart/2005/8/layout/vList2"/>
    <dgm:cxn modelId="{9C657DDF-D5CB-43CB-8B70-AD0618046BB4}" type="presOf" srcId="{8B4047EE-5885-441F-A8B4-2102BFB1E95E}" destId="{71E73A01-88FB-4041-949C-EEAF12DE5BC9}" srcOrd="0" destOrd="0" presId="urn:microsoft.com/office/officeart/2005/8/layout/vList2"/>
    <dgm:cxn modelId="{8F66FEF3-5D7E-4A81-B947-73CE2C59DBD3}" srcId="{2CBFF9C9-7D52-4E19-8855-51A653DA9CE0}" destId="{DA82F6B8-90F8-4344-8C66-D9963ABC4718}" srcOrd="2" destOrd="0" parTransId="{DE67D9E0-CE55-487C-B1AC-74FE27DB8B07}" sibTransId="{276FECA6-7797-467F-8CC8-9127F5F5D2DC}"/>
    <dgm:cxn modelId="{A9EF13F4-FA88-4001-A947-2CB700099CE1}" type="presOf" srcId="{5AE49A12-D260-4810-BECD-FFDF7ACADA64}" destId="{1D0C178C-8A63-4E6C-A33C-6B65F9F9C5DA}" srcOrd="0" destOrd="0" presId="urn:microsoft.com/office/officeart/2005/8/layout/vList2"/>
    <dgm:cxn modelId="{250AAB6E-820C-4B71-ADC9-2572CA10919C}" type="presParOf" srcId="{08340771-1E08-499D-B061-F6E9817A5989}" destId="{1D0C178C-8A63-4E6C-A33C-6B65F9F9C5DA}" srcOrd="0" destOrd="0" presId="urn:microsoft.com/office/officeart/2005/8/layout/vList2"/>
    <dgm:cxn modelId="{85547934-DD8F-464B-81D6-C02513A6AF5B}" type="presParOf" srcId="{08340771-1E08-499D-B061-F6E9817A5989}" destId="{45AF726E-64EC-4DD0-AFA4-0B0F1A60AB5D}" srcOrd="1" destOrd="0" presId="urn:microsoft.com/office/officeart/2005/8/layout/vList2"/>
    <dgm:cxn modelId="{8CADEBE2-3C1C-4610-9AD5-E02079A4149D}" type="presParOf" srcId="{08340771-1E08-499D-B061-F6E9817A5989}" destId="{9A78BA5F-3F61-4966-8D40-33CC1F8A5F05}" srcOrd="2" destOrd="0" presId="urn:microsoft.com/office/officeart/2005/8/layout/vList2"/>
    <dgm:cxn modelId="{D3AEA088-4817-4684-9E94-C16F3C0C6384}" type="presParOf" srcId="{08340771-1E08-499D-B061-F6E9817A5989}" destId="{BDDB3D8D-6D53-4D90-8012-0DC1779B6936}" srcOrd="3" destOrd="0" presId="urn:microsoft.com/office/officeart/2005/8/layout/vList2"/>
    <dgm:cxn modelId="{5EE86E89-8924-48EE-B1D6-67E8EA5AC068}" type="presParOf" srcId="{08340771-1E08-499D-B061-F6E9817A5989}" destId="{3AC64C58-049E-48B7-A4B1-7FFDCC7B733D}" srcOrd="4" destOrd="0" presId="urn:microsoft.com/office/officeart/2005/8/layout/vList2"/>
    <dgm:cxn modelId="{91C793A6-2807-4DBD-A790-EDF64D50F95A}" type="presParOf" srcId="{08340771-1E08-499D-B061-F6E9817A5989}" destId="{6AD94703-60BE-48BC-AA56-193E5B63756F}" srcOrd="5" destOrd="0" presId="urn:microsoft.com/office/officeart/2005/8/layout/vList2"/>
    <dgm:cxn modelId="{1131412F-B865-4EEF-9C50-EC0BEFB15AB7}" type="presParOf" srcId="{08340771-1E08-499D-B061-F6E9817A5989}" destId="{71E73A01-88FB-4041-949C-EEAF12DE5BC9}" srcOrd="6" destOrd="0" presId="urn:microsoft.com/office/officeart/2005/8/layout/vList2"/>
    <dgm:cxn modelId="{F0504719-CA5E-4557-B2DA-DE46EF9AF849}" type="presParOf" srcId="{08340771-1E08-499D-B061-F6E9817A5989}" destId="{A8B1970D-BEC6-4DF4-9CF8-6BBAE056E610}" srcOrd="7" destOrd="0" presId="urn:microsoft.com/office/officeart/2005/8/layout/vList2"/>
    <dgm:cxn modelId="{2D32D445-DA2A-486E-B0C3-D790E0E07FE6}" type="presParOf" srcId="{08340771-1E08-499D-B061-F6E9817A5989}" destId="{144AC980-0E58-44DE-9F3D-37C6ECEE8D48}"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0C178C-8A63-4E6C-A33C-6B65F9F9C5DA}">
      <dsp:nvSpPr>
        <dsp:cNvPr id="0" name=""/>
        <dsp:cNvSpPr/>
      </dsp:nvSpPr>
      <dsp:spPr>
        <a:xfrm>
          <a:off x="0" y="103649"/>
          <a:ext cx="5811128" cy="1034280"/>
        </a:xfrm>
        <a:prstGeom prst="roundRect">
          <a:avLst/>
        </a:prstGeom>
        <a:solidFill>
          <a:schemeClr val="accent5">
            <a:hueOff val="0"/>
            <a:satOff val="0"/>
            <a:lumOff val="0"/>
            <a:alphaOff val="0"/>
          </a:schemeClr>
        </a:solidFill>
        <a:ln w="12700" cap="flat" cmpd="sng">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AI progress is cyclical, not a straight upward line</a:t>
          </a:r>
        </a:p>
      </dsp:txBody>
      <dsp:txXfrm>
        <a:off x="50489" y="154138"/>
        <a:ext cx="5710150" cy="933302"/>
      </dsp:txXfrm>
    </dsp:sp>
    <dsp:sp modelId="{9A78BA5F-3F61-4966-8D40-33CC1F8A5F05}">
      <dsp:nvSpPr>
        <dsp:cNvPr id="0" name=""/>
        <dsp:cNvSpPr/>
      </dsp:nvSpPr>
      <dsp:spPr>
        <a:xfrm>
          <a:off x="0" y="1212809"/>
          <a:ext cx="5811128" cy="1034280"/>
        </a:xfrm>
        <a:prstGeom prst="roundRect">
          <a:avLst/>
        </a:prstGeom>
        <a:solidFill>
          <a:schemeClr val="accent5">
            <a:hueOff val="-1689636"/>
            <a:satOff val="-4355"/>
            <a:lumOff val="-2941"/>
            <a:alphaOff val="0"/>
          </a:schemeClr>
        </a:solidFill>
        <a:ln w="12700" cap="flat" cmpd="sng">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Cycle: breakthrough, hype, overpromise, disappointment, funding collapse</a:t>
          </a:r>
        </a:p>
      </dsp:txBody>
      <dsp:txXfrm>
        <a:off x="50489" y="1263298"/>
        <a:ext cx="5710150" cy="933302"/>
      </dsp:txXfrm>
    </dsp:sp>
    <dsp:sp modelId="{3AC64C58-049E-48B7-A4B1-7FFDCC7B733D}">
      <dsp:nvSpPr>
        <dsp:cNvPr id="0" name=""/>
        <dsp:cNvSpPr/>
      </dsp:nvSpPr>
      <dsp:spPr>
        <a:xfrm>
          <a:off x="0" y="2321969"/>
          <a:ext cx="5811128" cy="1034280"/>
        </a:xfrm>
        <a:prstGeom prst="roundRect">
          <a:avLst/>
        </a:prstGeom>
        <a:solidFill>
          <a:schemeClr val="accent5">
            <a:hueOff val="-3379271"/>
            <a:satOff val="-8710"/>
            <a:lumOff val="-5883"/>
            <a:alphaOff val="0"/>
          </a:schemeClr>
        </a:solidFill>
        <a:ln w="12700" cap="flat" cmpd="sng">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'AI winter' means sustained cuts in funding and interest</a:t>
          </a:r>
        </a:p>
      </dsp:txBody>
      <dsp:txXfrm>
        <a:off x="50489" y="2372458"/>
        <a:ext cx="5710150" cy="933302"/>
      </dsp:txXfrm>
    </dsp:sp>
    <dsp:sp modelId="{71E73A01-88FB-4041-949C-EEAF12DE5BC9}">
      <dsp:nvSpPr>
        <dsp:cNvPr id="0" name=""/>
        <dsp:cNvSpPr/>
      </dsp:nvSpPr>
      <dsp:spPr>
        <a:xfrm>
          <a:off x="0" y="3431129"/>
          <a:ext cx="5811128" cy="1034280"/>
        </a:xfrm>
        <a:prstGeom prst="roundRect">
          <a:avLst/>
        </a:prstGeom>
        <a:solidFill>
          <a:schemeClr val="accent5">
            <a:hueOff val="-5068907"/>
            <a:satOff val="-13064"/>
            <a:lumOff val="-8824"/>
            <a:alphaOff val="0"/>
          </a:schemeClr>
        </a:solidFill>
        <a:ln w="12700" cap="flat" cmpd="sng">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Pattern repeats because expectations outrun technical reality</a:t>
          </a:r>
        </a:p>
      </dsp:txBody>
      <dsp:txXfrm>
        <a:off x="50489" y="3481618"/>
        <a:ext cx="5710150" cy="933302"/>
      </dsp:txXfrm>
    </dsp:sp>
    <dsp:sp modelId="{144AC980-0E58-44DE-9F3D-37C6ECEE8D48}">
      <dsp:nvSpPr>
        <dsp:cNvPr id="0" name=""/>
        <dsp:cNvSpPr/>
      </dsp:nvSpPr>
      <dsp:spPr>
        <a:xfrm>
          <a:off x="0" y="4540289"/>
          <a:ext cx="5811128" cy="1034280"/>
        </a:xfrm>
        <a:prstGeom prst="roundRect">
          <a:avLst/>
        </a:prstGeom>
        <a:solidFill>
          <a:schemeClr val="accent5">
            <a:hueOff val="-6758543"/>
            <a:satOff val="-17419"/>
            <a:lumOff val="-11765"/>
            <a:alphaOff val="0"/>
          </a:schemeClr>
        </a:solidFill>
        <a:ln w="12700" cap="flat" cmpd="sng">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Understanding cycles explains today's field structure and vocabulary</a:t>
          </a:r>
        </a:p>
      </dsp:txBody>
      <dsp:txXfrm>
        <a:off x="50489" y="4590778"/>
        <a:ext cx="5710150" cy="93330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Today we trace AI's history not as steady progress but as a series of boom-and-bust cycles. We will look at the first wave of optimism after 1956, the first AI winter of 1974-1980, the expert systems boom and second winter of 1980-1993, the statistical renewal driven by data and compute, and the practical lessons these cycles offer for evaluating today's claims.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Introduce the cycle model: a genuine technical breakthrough generates excitement; researchers and media extrapolate far beyond what the method can do; funders invest heavily; results fail to match promises; money and prestige evaporate. The term 'AI winter' was coined by analogy with nuclear winter at an AAAI meeting in 1984, when researchers who had lived through the first winter warned another was coming. Note that research never stopped during winters — it continued quietly under other names such as informatics, machine learning, or knowledge-based systems. This pattern explains why the field repeatedly rebrands itself.</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1956 Dartmouth Summer Research Project, organised by McCarthy, Minsky, Rochester and Shannon, gave the field its name. Early successes were real: Newell and Simon's Logic Theorist proved theorems from Principia Mathematica; Samuel's checkers program learned to beat its author; Winograd's SHRDLU manipulated a blocks world with natural language. Leading figures made bold claims — Herbert Simon said in 1965 that machines would be capable of any work a man can do within twenty years; Minsky claimed in 1970 that a machine with general human intelligence was three to eight years away. Funding agencies, especially ARPA/DARPA, gave block grants with few deliverables attached. Crucially, these successes worked on toy problems; they did not scale to real-world complexity.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Technical causes: intractability — problems that worked on small examples exploded combinatorially at realistic scale; lack of commonsense knowledge; Minsky and Papert's Perceptrons (1969) discouraged neural network research. Economic and political causes: the 1966 ALPAC report killed machine translation funding; Sir James Lighthill's 1973 report to the UK Science Research Council concluded AI had failed to deliver on its grand objectives, leading to near-elimination of UK AI funding outside Edinburgh and Essex; the 1969 Mansfield Amendment required DARPA to fund mission-oriented work, and DARPA cancelled Speech Understanding Research in 1974. Hardware was also a hard limit: machines of the era had tiny memories by modern standards. Research continued at reduced scale and visibility.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Expert systems such as MYCIN (medical diagnosis), DENDRAL (chemistry) and especially DEC's XCON (configuring VAX orders) delivered measurable commercial value, and by the mid-1980s an industry worth over a billion dollars had formed around them, including specialised LISP machine hardware from Symbolics and LMI. Japan's Fifth Generation Computer Project (1982) triggered defensive funding: DARPA's Strategic Computing Initiative and the UK's Alvey programme. The collapse came from several directions: knowledge acquisition was a bottleneck requiring expensive experts; rule bases became brittle at the edges of their domain and failed ungracefully; maintenance costs ballooned as rules interacted; and general-purpose workstations from Sun and Apple undercut LISP machines, destroying that hardware market in 1987. DARPA's new leadership concluded AI was not the next wave; the Fifth Generation project ended in 1992 without meeting its goals.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From the 1990s, AI recovered by changing method rather than ambition. Instead of asking experts to articulate rules, systems induced patterns from large datasets — probabilistic and statistical methods, Bayesian networks, hidden Markov models in speech, and later deep neural networks. Three enabling forces converged: (1) data, from the web, digitised records and labelled sets such as ImageNet; (2) compute, from steadily cheaper processors and then GPUs repurposed for parallel matrix maths, plus cloud infrastructure; (3) algorithmic advances, including practical backpropagation, convolutional networks, and the 2017 transformer architecture. Note the field also rebranded itself during this period as machine learning and data science, avoiding the tainted 'AI' label. Milestones: Deep Blue beating Kasparov in 1997, AlexNet's ImageNet win in 2012, AlphaGo in 2016, and the large language models of the 2020s.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Summarise: AI has moved through optimism (1956-73), the first winter (1974-80), the expert systems boom and second winter (1980-93), and a data-driven renewal. The recurring causes are technical — scaling limits, brittleness, missing commonsense — and economic — speculative investment, defensive national programmes, and reliance on narrow hardware markets. Practical guidance for students and future professionals: ask what exactly was demonstrated and on what data; ask about maintenance and total cost of ownership, the lesson of expert systems; be sceptical of timeline claims for general intelligence; and remember that winters did not end research, they ended funding and attention. Recognising warning signs protects both research programmes and organisational investment. Invite discussion: are current large-model expectations sustainable, or are we near another correction?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Clarify scope for students: this presentation is a focused historical analysis supporting MO4, examining the technical factors (combinatorial explosion, brittleness, knowledge acquisition bottleneck, hardware limits) and economic factors (Lighthill Report, Mansfield Amendment, DARPA redirection, LISP machine market collapse, Fifth Generation competition) behind the 1974-1980 and 1987-1993 winters. Outcomes MO1, MO2, MO3 and MO5 are covered in other sessions of the module.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71074" y="1396686"/>
            <a:ext cx="3240506" cy="4064628"/>
          </a:xfrm>
        </p:spPr>
        <p:txBody>
          <a:bodyPr vert="horz" lIns="91440" tIns="45720" rIns="91440" bIns="45720" rtlCol="0" anchor="ctr">
            <a:normAutofit/>
          </a:bodyPr>
          <a:lstStyle/>
          <a:p>
            <a:r>
              <a:rPr lang="en-US" kern="1200">
                <a:solidFill>
                  <a:srgbClr val="FFFFFF"/>
                </a:solidFill>
                <a:latin typeface="+mj-lt"/>
                <a:ea typeface="+mj-ea"/>
                <a:cs typeface="+mj-cs"/>
              </a:rPr>
              <a:t>AI Winters and Cycles of Progress</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5370153" y="1526033"/>
            <a:ext cx="5536397" cy="3935281"/>
          </a:xfrm>
        </p:spPr>
        <p:txBody>
          <a:bodyPr vert="horz" lIns="91440" tIns="45720" rIns="91440" bIns="45720" rtlCol="0">
            <a:normAutofit/>
          </a:bodyPr>
          <a:lstStyle/>
          <a:p>
            <a:r>
              <a:rPr lang="en-US">
                <a:ea typeface="+mn-ea"/>
                <a:cs typeface="+mn-cs"/>
              </a:rPr>
              <a:t>How hype, funding collapse and renewal shaped artificial intelligence's uneven history</a:t>
            </a:r>
          </a:p>
          <a:p>
            <a:endParaRPr lang="en-US">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B5B423A-57CC-4C58-AA26-8E2E862B03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5217023" cy="3994777"/>
          </a:xfrm>
          <a:custGeom>
            <a:avLst/>
            <a:gdLst>
              <a:gd name="connsiteX0" fmla="*/ 1945461 w 5217023"/>
              <a:gd name="connsiteY0" fmla="*/ 3787398 h 3994777"/>
              <a:gd name="connsiteX1" fmla="*/ 1942113 w 5217023"/>
              <a:gd name="connsiteY1" fmla="*/ 3790053 h 3994777"/>
              <a:gd name="connsiteX2" fmla="*/ 1946982 w 5217023"/>
              <a:gd name="connsiteY2" fmla="*/ 3787990 h 3994777"/>
              <a:gd name="connsiteX3" fmla="*/ 1945461 w 5217023"/>
              <a:gd name="connsiteY3" fmla="*/ 3787398 h 3994777"/>
              <a:gd name="connsiteX4" fmla="*/ 0 w 5217023"/>
              <a:gd name="connsiteY4" fmla="*/ 0 h 3994777"/>
              <a:gd name="connsiteX5" fmla="*/ 5030958 w 5217023"/>
              <a:gd name="connsiteY5" fmla="*/ 0 h 3994777"/>
              <a:gd name="connsiteX6" fmla="*/ 5046198 w 5217023"/>
              <a:gd name="connsiteY6" fmla="*/ 153449 h 3994777"/>
              <a:gd name="connsiteX7" fmla="*/ 5055729 w 5217023"/>
              <a:gd name="connsiteY7" fmla="*/ 415828 h 3994777"/>
              <a:gd name="connsiteX8" fmla="*/ 4735242 w 5217023"/>
              <a:gd name="connsiteY8" fmla="*/ 1867130 h 3994777"/>
              <a:gd name="connsiteX9" fmla="*/ 3907395 w 5217023"/>
              <a:gd name="connsiteY9" fmla="*/ 2938441 h 3994777"/>
              <a:gd name="connsiteX10" fmla="*/ 3946497 w 5217023"/>
              <a:gd name="connsiteY10" fmla="*/ 2908567 h 3994777"/>
              <a:gd name="connsiteX11" fmla="*/ 4585421 w 5217023"/>
              <a:gd name="connsiteY11" fmla="*/ 2188401 h 3994777"/>
              <a:gd name="connsiteX12" fmla="*/ 5142585 w 5217023"/>
              <a:gd name="connsiteY12" fmla="*/ 276891 h 3994777"/>
              <a:gd name="connsiteX13" fmla="*/ 5121833 w 5217023"/>
              <a:gd name="connsiteY13" fmla="*/ 30208 h 3994777"/>
              <a:gd name="connsiteX14" fmla="*/ 5116229 w 5217023"/>
              <a:gd name="connsiteY14" fmla="*/ 0 h 3994777"/>
              <a:gd name="connsiteX15" fmla="*/ 5184724 w 5217023"/>
              <a:gd name="connsiteY15" fmla="*/ 0 h 3994777"/>
              <a:gd name="connsiteX16" fmla="*/ 5196265 w 5217023"/>
              <a:gd name="connsiteY16" fmla="*/ 66113 h 3994777"/>
              <a:gd name="connsiteX17" fmla="*/ 5058603 w 5217023"/>
              <a:gd name="connsiteY17" fmla="*/ 1368242 h 3994777"/>
              <a:gd name="connsiteX18" fmla="*/ 4096624 w 5217023"/>
              <a:gd name="connsiteY18" fmla="*/ 2870829 h 3994777"/>
              <a:gd name="connsiteX19" fmla="*/ 3833203 w 5217023"/>
              <a:gd name="connsiteY19" fmla="*/ 3092190 h 3994777"/>
              <a:gd name="connsiteX20" fmla="*/ 3536509 w 5217023"/>
              <a:gd name="connsiteY20" fmla="*/ 3297128 h 3994777"/>
              <a:gd name="connsiteX21" fmla="*/ 3148966 w 5217023"/>
              <a:gd name="connsiteY21" fmla="*/ 3485478 h 3994777"/>
              <a:gd name="connsiteX22" fmla="*/ 1860557 w 5217023"/>
              <a:gd name="connsiteY22" fmla="*/ 3880910 h 3994777"/>
              <a:gd name="connsiteX23" fmla="*/ 573715 w 5217023"/>
              <a:gd name="connsiteY23" fmla="*/ 3983764 h 3994777"/>
              <a:gd name="connsiteX24" fmla="*/ 108410 w 5217023"/>
              <a:gd name="connsiteY24" fmla="*/ 3908816 h 3994777"/>
              <a:gd name="connsiteX25" fmla="*/ 0 w 5217023"/>
              <a:gd name="connsiteY25" fmla="*/ 3876793 h 3994777"/>
              <a:gd name="connsiteX26" fmla="*/ 0 w 5217023"/>
              <a:gd name="connsiteY26" fmla="*/ 3802912 h 3994777"/>
              <a:gd name="connsiteX27" fmla="*/ 36975 w 5217023"/>
              <a:gd name="connsiteY27" fmla="*/ 3815954 h 3994777"/>
              <a:gd name="connsiteX28" fmla="*/ 561628 w 5217023"/>
              <a:gd name="connsiteY28" fmla="*/ 3912655 h 3994777"/>
              <a:gd name="connsiteX29" fmla="*/ 1683086 w 5217023"/>
              <a:gd name="connsiteY29" fmla="*/ 3844334 h 3994777"/>
              <a:gd name="connsiteX30" fmla="*/ 1806023 w 5217023"/>
              <a:gd name="connsiteY30" fmla="*/ 3820992 h 3994777"/>
              <a:gd name="connsiteX31" fmla="*/ 1921817 w 5217023"/>
              <a:gd name="connsiteY31" fmla="*/ 3795747 h 3994777"/>
              <a:gd name="connsiteX32" fmla="*/ 1243689 w 5217023"/>
              <a:gd name="connsiteY32" fmla="*/ 3846539 h 3994777"/>
              <a:gd name="connsiteX33" fmla="*/ 62875 w 5217023"/>
              <a:gd name="connsiteY33" fmla="*/ 3668143 h 3994777"/>
              <a:gd name="connsiteX34" fmla="*/ 0 w 5217023"/>
              <a:gd name="connsiteY34" fmla="*/ 3644185 h 3994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17023" h="3994777">
                <a:moveTo>
                  <a:pt x="1945461" y="3787398"/>
                </a:moveTo>
                <a:lnTo>
                  <a:pt x="1942113" y="3790053"/>
                </a:lnTo>
                <a:lnTo>
                  <a:pt x="1946982" y="3787990"/>
                </a:lnTo>
                <a:cubicBezTo>
                  <a:pt x="1946982" y="3787990"/>
                  <a:pt x="1946379" y="3787019"/>
                  <a:pt x="1945461" y="3787398"/>
                </a:cubicBezTo>
                <a:close/>
                <a:moveTo>
                  <a:pt x="0" y="0"/>
                </a:moveTo>
                <a:lnTo>
                  <a:pt x="5030958" y="0"/>
                </a:lnTo>
                <a:lnTo>
                  <a:pt x="5046198" y="153449"/>
                </a:lnTo>
                <a:cubicBezTo>
                  <a:pt x="5052189" y="240558"/>
                  <a:pt x="5055458" y="328007"/>
                  <a:pt x="5055729" y="415828"/>
                </a:cubicBezTo>
                <a:cubicBezTo>
                  <a:pt x="5057604" y="923672"/>
                  <a:pt x="4959210" y="1409054"/>
                  <a:pt x="4735242" y="1867130"/>
                </a:cubicBezTo>
                <a:cubicBezTo>
                  <a:pt x="4533284" y="2280198"/>
                  <a:pt x="4248921" y="2629330"/>
                  <a:pt x="3907395" y="2938441"/>
                </a:cubicBezTo>
                <a:cubicBezTo>
                  <a:pt x="3922498" y="2931535"/>
                  <a:pt x="3935859" y="2921330"/>
                  <a:pt x="3946497" y="2908567"/>
                </a:cubicBezTo>
                <a:cubicBezTo>
                  <a:pt x="4193494" y="2700987"/>
                  <a:pt x="4408756" y="2458364"/>
                  <a:pt x="4585421" y="2188401"/>
                </a:cubicBezTo>
                <a:cubicBezTo>
                  <a:pt x="4967641" y="1608533"/>
                  <a:pt x="5169304" y="975361"/>
                  <a:pt x="5142585" y="276891"/>
                </a:cubicBezTo>
                <a:cubicBezTo>
                  <a:pt x="5139764" y="194215"/>
                  <a:pt x="5132824" y="111888"/>
                  <a:pt x="5121833" y="30208"/>
                </a:cubicBezTo>
                <a:lnTo>
                  <a:pt x="5116229" y="0"/>
                </a:lnTo>
                <a:lnTo>
                  <a:pt x="5184724" y="0"/>
                </a:lnTo>
                <a:lnTo>
                  <a:pt x="5196265" y="66113"/>
                </a:lnTo>
                <a:cubicBezTo>
                  <a:pt x="5249921" y="496647"/>
                  <a:pt x="5197997" y="931171"/>
                  <a:pt x="5058603" y="1368242"/>
                </a:cubicBezTo>
                <a:cubicBezTo>
                  <a:pt x="4872414" y="1953929"/>
                  <a:pt x="4544298" y="2451351"/>
                  <a:pt x="4096624" y="2870829"/>
                </a:cubicBezTo>
                <a:cubicBezTo>
                  <a:pt x="4012832" y="2949426"/>
                  <a:pt x="3924415" y="3022439"/>
                  <a:pt x="3833203" y="3092190"/>
                </a:cubicBezTo>
                <a:cubicBezTo>
                  <a:pt x="3741992" y="3161943"/>
                  <a:pt x="3648667" y="3225510"/>
                  <a:pt x="3536509" y="3297128"/>
                </a:cubicBezTo>
                <a:cubicBezTo>
                  <a:pt x="3427215" y="3372735"/>
                  <a:pt x="3288598" y="3430233"/>
                  <a:pt x="3148966" y="3485478"/>
                </a:cubicBezTo>
                <a:cubicBezTo>
                  <a:pt x="2729930" y="3651299"/>
                  <a:pt x="2302194" y="3788890"/>
                  <a:pt x="1860557" y="3880910"/>
                </a:cubicBezTo>
                <a:cubicBezTo>
                  <a:pt x="1435974" y="3969444"/>
                  <a:pt x="1008052" y="4017957"/>
                  <a:pt x="573715" y="3983764"/>
                </a:cubicBezTo>
                <a:cubicBezTo>
                  <a:pt x="415134" y="3971300"/>
                  <a:pt x="259585" y="3947743"/>
                  <a:pt x="108410" y="3908816"/>
                </a:cubicBezTo>
                <a:lnTo>
                  <a:pt x="0" y="3876793"/>
                </a:lnTo>
                <a:lnTo>
                  <a:pt x="0" y="3802912"/>
                </a:lnTo>
                <a:lnTo>
                  <a:pt x="36975" y="3815954"/>
                </a:lnTo>
                <a:cubicBezTo>
                  <a:pt x="206404" y="3867475"/>
                  <a:pt x="382020" y="3897326"/>
                  <a:pt x="561628" y="3912655"/>
                </a:cubicBezTo>
                <a:cubicBezTo>
                  <a:pt x="938583" y="3944832"/>
                  <a:pt x="1311814" y="3910697"/>
                  <a:pt x="1683086" y="3844334"/>
                </a:cubicBezTo>
                <a:cubicBezTo>
                  <a:pt x="1724123" y="3837151"/>
                  <a:pt x="1765097" y="3829374"/>
                  <a:pt x="1806023" y="3820992"/>
                </a:cubicBezTo>
                <a:cubicBezTo>
                  <a:pt x="1844740" y="3813079"/>
                  <a:pt x="1883218" y="3804161"/>
                  <a:pt x="1921817" y="3795747"/>
                </a:cubicBezTo>
                <a:cubicBezTo>
                  <a:pt x="1697011" y="3826435"/>
                  <a:pt x="1470551" y="3843387"/>
                  <a:pt x="1243689" y="3846539"/>
                </a:cubicBezTo>
                <a:cubicBezTo>
                  <a:pt x="839058" y="3849054"/>
                  <a:pt x="443424" y="3800206"/>
                  <a:pt x="62875" y="3668143"/>
                </a:cubicBezTo>
                <a:lnTo>
                  <a:pt x="0" y="364418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38200" y="673770"/>
            <a:ext cx="3220329" cy="2027227"/>
          </a:xfrm>
        </p:spPr>
        <p:txBody>
          <a:bodyPr vert="horz" lIns="91440" tIns="45720" rIns="91440" bIns="45720" rtlCol="0">
            <a:normAutofit/>
          </a:bodyPr>
          <a:lstStyle/>
          <a:p>
            <a:r>
              <a:rPr lang="en-US" sz="3800" kern="1200">
                <a:solidFill>
                  <a:srgbClr val="FFFFFF"/>
                </a:solidFill>
                <a:latin typeface="+mj-lt"/>
                <a:ea typeface="+mj-ea"/>
                <a:cs typeface="+mj-cs"/>
              </a:rPr>
              <a:t>The Boom-and-Bust Pattern in AI History</a:t>
            </a:r>
          </a:p>
        </p:txBody>
      </p:sp>
      <p:graphicFrame>
        <p:nvGraphicFramePr>
          <p:cNvPr id="5" name="Content Placeholder 2">
            <a:extLst>
              <a:ext uri="{FF2B5EF4-FFF2-40B4-BE49-F238E27FC236}">
                <a16:creationId xmlns:a16="http://schemas.microsoft.com/office/drawing/2014/main" id="{211F876E-7314-B580-D494-0D77F83517AE}"/>
              </a:ext>
            </a:extLst>
          </p:cNvPr>
          <p:cNvGraphicFramePr>
            <a:graphicFrameLocks noGrp="1"/>
          </p:cNvGraphicFramePr>
          <p:nvPr>
            <p:ph idx="1"/>
            <p:extLst>
              <p:ext uri="{D42A27DB-BD31-4B8C-83A1-F6EECF244321}">
                <p14:modId xmlns:p14="http://schemas.microsoft.com/office/powerpoint/2010/main" val="968122075"/>
              </p:ext>
            </p:extLst>
          </p:nvPr>
        </p:nvGraphicFramePr>
        <p:xfrm>
          <a:off x="5542672" y="541606"/>
          <a:ext cx="5811128" cy="56782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First Wave of Optimism (1956-1973)</a:t>
            </a:r>
          </a:p>
        </p:txBody>
      </p:sp>
      <p:sp>
        <p:nvSpPr>
          <p:cNvPr id="3" name="Content Placeholder 2"/>
          <p:cNvSpPr>
            <a:spLocks noGrp="1"/>
          </p:cNvSpPr>
          <p:nvPr>
            <p:ph idx="1"/>
          </p:nvPr>
        </p:nvSpPr>
        <p:spPr/>
        <p:txBody>
          <a:bodyPr/>
          <a:lstStyle/>
          <a:p>
            <a:r>
              <a:rPr lang="en-US" dirty="0"/>
              <a:t>1956 Dartmouth workshop named the field artificial intelligence</a:t>
            </a:r>
          </a:p>
          <a:p>
            <a:r>
              <a:rPr lang="en-US" dirty="0"/>
              <a:t>Symbolic programs proved theorems, solved puzzles, played games</a:t>
            </a:r>
          </a:p>
          <a:p>
            <a:r>
              <a:rPr lang="en-US" dirty="0"/>
              <a:t>Logic Theorist, General Problem Solver, SHRDLU, ELIZA impressed funders</a:t>
            </a:r>
          </a:p>
          <a:p>
            <a:r>
              <a:rPr lang="en-US" dirty="0"/>
              <a:t>Simon predicted machines matching human work within twenty years</a:t>
            </a:r>
          </a:p>
          <a:p>
            <a:r>
              <a:rPr lang="en-US" dirty="0"/>
              <a:t>Generous, largely unconditional DARPA and government funding flowed</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First AI Winter (1974-1980)</a:t>
            </a:r>
          </a:p>
        </p:txBody>
      </p:sp>
      <p:sp>
        <p:nvSpPr>
          <p:cNvPr id="3" name="Content Placeholder 2"/>
          <p:cNvSpPr>
            <a:spLocks noGrp="1"/>
          </p:cNvSpPr>
          <p:nvPr>
            <p:ph idx="1"/>
          </p:nvPr>
        </p:nvSpPr>
        <p:spPr/>
        <p:txBody>
          <a:bodyPr/>
          <a:lstStyle/>
          <a:p>
            <a:r>
              <a:rPr lang="en-US" dirty="0"/>
              <a:t>Toy successes failed to scale; combinatorial explosion blocked search</a:t>
            </a:r>
          </a:p>
          <a:p>
            <a:r>
              <a:rPr lang="en-US" dirty="0"/>
              <a:t>Machine translation and speech projects missed promised targets</a:t>
            </a:r>
          </a:p>
          <a:p>
            <a:r>
              <a:rPr lang="en-US" dirty="0"/>
              <a:t>1973 Lighthill Report condemned UK AI; funding withdrawn</a:t>
            </a:r>
          </a:p>
          <a:p>
            <a:r>
              <a:rPr lang="en-US" dirty="0"/>
              <a:t>DARPA and NRC cut undirected AI research sharply</a:t>
            </a:r>
          </a:p>
          <a:p>
            <a:r>
              <a:rPr lang="en-US" dirty="0"/>
              <a:t>Limited compute, memory and data compounded the failures</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Expert Systems Boom and Second Winter (1980-1993)</a:t>
            </a:r>
          </a:p>
        </p:txBody>
      </p:sp>
      <p:sp>
        <p:nvSpPr>
          <p:cNvPr id="3" name="Content Placeholder 2"/>
          <p:cNvSpPr>
            <a:spLocks noGrp="1"/>
          </p:cNvSpPr>
          <p:nvPr>
            <p:ph idx="1"/>
          </p:nvPr>
        </p:nvSpPr>
        <p:spPr/>
        <p:txBody>
          <a:bodyPr/>
          <a:lstStyle/>
          <a:p>
            <a:r>
              <a:rPr lang="en-US" dirty="0"/>
              <a:t>Expert systems encoded specialist rules for narrow business tasks</a:t>
            </a:r>
          </a:p>
          <a:p>
            <a:r>
              <a:rPr lang="en-US" dirty="0"/>
              <a:t>XCON saved DEC an estimated $40 million annually</a:t>
            </a:r>
          </a:p>
          <a:p>
            <a:r>
              <a:rPr lang="en-US" dirty="0"/>
              <a:t>Japan's Fifth Generation spurred US and UK counter-investment</a:t>
            </a:r>
          </a:p>
          <a:p>
            <a:r>
              <a:rPr lang="en-US" dirty="0"/>
              <a:t>Rules were brittle, costly to maintain, couldn't learn</a:t>
            </a:r>
          </a:p>
          <a:p>
            <a:r>
              <a:rPr lang="en-US" dirty="0"/>
              <a:t>1987 LISP machine market collapsed; funding froze until 1993</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Renewal Through Data, Compute and Learning</a:t>
            </a:r>
          </a:p>
        </p:txBody>
      </p:sp>
      <p:sp>
        <p:nvSpPr>
          <p:cNvPr id="3" name="Content Placeholder 2"/>
          <p:cNvSpPr>
            <a:spLocks noGrp="1"/>
          </p:cNvSpPr>
          <p:nvPr>
            <p:ph idx="1"/>
          </p:nvPr>
        </p:nvSpPr>
        <p:spPr/>
        <p:txBody>
          <a:bodyPr/>
          <a:lstStyle/>
          <a:p>
            <a:r>
              <a:rPr lang="en-US" dirty="0"/>
              <a:t>Shift from hand-coded rules to statistics learned from data</a:t>
            </a:r>
          </a:p>
          <a:p>
            <a:r>
              <a:rPr lang="en-US" dirty="0"/>
              <a:t>Big data: the web and digitisation supplied training examples</a:t>
            </a:r>
          </a:p>
          <a:p>
            <a:r>
              <a:rPr lang="en-US" dirty="0"/>
              <a:t>Compute: Moore's Law, then GPUs, made training feasible</a:t>
            </a:r>
          </a:p>
          <a:p>
            <a:r>
              <a:rPr lang="en-US" dirty="0"/>
              <a:t>Better algorithms: backpropagation, SVMs, deep nets, transformers</a:t>
            </a:r>
          </a:p>
          <a:p>
            <a:r>
              <a:rPr lang="en-US" dirty="0"/>
              <a:t>Milestones: Deep Blue 1997, ImageNet 2012, LLMs today</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Lessons from the Cycles and Conclusion</a:t>
            </a:r>
          </a:p>
        </p:txBody>
      </p:sp>
      <p:sp>
        <p:nvSpPr>
          <p:cNvPr id="3" name="Content Placeholder 2"/>
          <p:cNvSpPr>
            <a:spLocks noGrp="1"/>
          </p:cNvSpPr>
          <p:nvPr>
            <p:ph idx="1"/>
          </p:nvPr>
        </p:nvSpPr>
        <p:spPr/>
        <p:txBody>
          <a:bodyPr/>
          <a:lstStyle/>
          <a:p>
            <a:r>
              <a:rPr lang="en-US" dirty="0"/>
              <a:t>Distinguish demonstrated capability from extrapolated promise</a:t>
            </a:r>
          </a:p>
          <a:p>
            <a:r>
              <a:rPr lang="en-US" dirty="0"/>
              <a:t>Watch for brittleness: does performance survive outside the demo?</a:t>
            </a:r>
          </a:p>
          <a:p>
            <a:r>
              <a:rPr lang="en-US" dirty="0"/>
              <a:t>Overpromising invites backlash; funders remember broken deadlines</a:t>
            </a:r>
          </a:p>
          <a:p>
            <a:r>
              <a:rPr lang="en-US" dirty="0"/>
              <a:t>Progress needs data, compute and algorithms together, not hype</a:t>
            </a:r>
          </a:p>
          <a:p>
            <a:r>
              <a:rPr lang="en-US" dirty="0"/>
              <a:t>Evaluate today's AI claims with benchmarks, costs and failure modes</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Alignment with Learning Outcomes</a:t>
            </a:r>
          </a:p>
        </p:txBody>
      </p:sp>
      <p:sp>
        <p:nvSpPr>
          <p:cNvPr id="3" name="Content Placeholder 2"/>
          <p:cNvSpPr>
            <a:spLocks noGrp="1"/>
          </p:cNvSpPr>
          <p:nvPr>
            <p:ph idx="1"/>
          </p:nvPr>
        </p:nvSpPr>
        <p:spPr/>
        <p:txBody>
          <a:bodyPr/>
          <a:lstStyle/>
          <a:p>
            <a:r>
              <a:rPr lang="en-US" dirty="0"/>
              <a:t>MO1: Not addressed — no comparison of four definitional approaches</a:t>
            </a:r>
          </a:p>
          <a:p>
            <a:r>
              <a:rPr lang="en-US" dirty="0"/>
              <a:t>MO2: Not addressed — Turing's imitation game not covered here</a:t>
            </a:r>
          </a:p>
          <a:p>
            <a:r>
              <a:rPr lang="en-US" dirty="0"/>
              <a:t>MO3: Not addressed — weak versus strong AI classification omitted</a:t>
            </a:r>
          </a:p>
          <a:p>
            <a:r>
              <a:rPr lang="en-US" dirty="0"/>
              <a:t>MO4: Fully supported — technical and economic causes of both winters</a:t>
            </a:r>
          </a:p>
          <a:p>
            <a:r>
              <a:rPr lang="en-US" dirty="0"/>
              <a:t>MO5: Not addressed — ethical risk evaluation lies outside this deck</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f8b35114-6079-4276-ac22-ae80d1dfba98}" enabled="0" method="" siteId="{f8b35114-6079-4276-ac22-ae80d1dfba98}" removed="1"/>
</clbl:labelList>
</file>

<file path=docProps/app.xml><?xml version="1.0" encoding="utf-8"?>
<Properties xmlns="http://schemas.openxmlformats.org/officeDocument/2006/extended-properties" xmlns:vt="http://schemas.openxmlformats.org/officeDocument/2006/docPropsVTypes">
  <TotalTime>0</TotalTime>
  <Words>1386</Words>
  <Application>Microsoft Office PowerPoint</Application>
  <PresentationFormat>Widescreen</PresentationFormat>
  <Paragraphs>52</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AI Winters and Cycles of Progress</vt:lpstr>
      <vt:lpstr>The Boom-and-Bust Pattern in AI History</vt:lpstr>
      <vt:lpstr>The First Wave of Optimism (1956-1973)</vt:lpstr>
      <vt:lpstr>The First AI Winter (1974-1980)</vt:lpstr>
      <vt:lpstr>Expert Systems Boom and Second Winter (1980-1993)</vt:lpstr>
      <vt:lpstr>Renewal Through Data, Compute and Learning</vt:lpstr>
      <vt:lpstr>Lessons from the Cycles and Conclusion</vt:lpstr>
      <vt:lpstr>Alignment with Learning Outcomes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Winters and Cycles of Progress</dc:title>
  <dc:creator>CourseBuilder+</dc:creator>
  <cp:lastModifiedBy>Ronald Eaglin</cp:lastModifiedBy>
  <cp:revision>1</cp:revision>
  <dcterms:created xsi:type="dcterms:W3CDTF">2026-09-28T16:30:01Z</dcterms:created>
  <dcterms:modified xsi:type="dcterms:W3CDTF">2026-10-16T18:19:51Z</dcterms:modified>
</cp:coreProperties>
</file>