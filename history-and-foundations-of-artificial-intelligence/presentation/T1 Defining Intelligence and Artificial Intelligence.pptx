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build the conceptual vocabulary for the module. We will ask what intelligence means, examine four classic framings of AI, walk through Turing's imitation game, separate strong from weak AI, introduce the rational-agent vocabulary, and finish by asking why definitions matter in practice. Nothing here is mere philosophy: every definition we adopt determines what we build, how we test it, and what we claim in public.</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Intelligence resists definition. Psychologists have offered general-factor accounts, multiple-intelligences accounts, and practical definitions such as 'the ability to achieve goals in a wide range of environments.' Most working definitions list capabilities: perceiving, learning from experience, reasoning under uncertainty, using language, adapting to novelty, and transferring knowledge to new tasks. Because the target is fuzzy, benchmarks stand in for it — chess, exams, conversation — and each benchmark privileges some capabilities while ignoring others. Keep this ambiguity in mind: disagreement about AI progress is often really disagreement about definitions.</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Russell and Norvig organise AI definitions on a two-by-two grid. One axis asks whether we care about internal thought or external behaviour; the other asks whether the yardstick is human performance or an ideal standard of rationality. Thinking humanly draws on cognitive science and introspection. Thinking rationally descends from Aristotle's syllogisms and the logicist tradition, and struggles with uncertainty and computational cost. Acting humanly is operationalised by the Turing Test. Acting rationally — maximising expected performance given available information — dominates contemporary AI because it is measurable, mathematically tractable, and does not require imitating human quirks or error.</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 'Computing Machinery and Intelligence' Turing argued the original question was too vague, and proposed the imitation game. A human interrogator exchanges typed messages with two hidden participants — one human, one machine — and must identify which is which. Sustained failure to identify the machine counts as evidence of thinking. The test is deliberately behavioural: text-only channels prevent judgement by appearance or voice. Turing also anticipated objections, including the mathematical and consciousness objections. Modern critiques note that systems can pass by mimicking human error or evading questions, and that many valuable AI capabilities have nothing to do with impersonating people. Variants such as total and reverse Turing tests, including CAPTCHAs, extend the idea.</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Weak AI treats the computer as a tool for modelling and performing tasks; strong AI claims an appropriately programmed computer literally has a mind. Searle's Chinese Room thought experiment attacks strong AI: a person following rules to manipulate Chinese symbols produces correct answers without understanding Chinese, so syntax alone cannot yield semantics. Classification criteria for students: task breadth, transfer to unfamiliar domains, autonomous goal-setting, and self-awareness. By these criteria chess engines, recommender systems, medical image classifiers, and even large language models remain narrow — broad in surface competence but lacking general, self-directed understanding. Note that whether strong AI is achievable remains an open empirical and philosophical question.</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Modern AI is usually presented as the design of rational agents. An agent maps percept sequences to actions; the agent program implements this function on a physical or virtual architecture. Rationality is defined relative to an external performance measure, not the agent's own opinion, and is distinguished from omniscience — a rational agent can still fail from incomplete information. Environment properties determine which techniques apply: search, logic, probability, or learning. Because perfect rationality is computationally infeasible, we settle for bounded or limited rationality. This vocabulary — agent, environment, percept, action, utility, performance measure — recurs throughout the module.</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Recap and payoff. Choosing a definition chooses a benchmark: if intelligence means passing exams, we build exam-passers. Companies and journalists exploit definitional slippage when narrow performance is reported as general intelligence, which distorts investment, regulation, and public trust. Definitional clarity also supports ethical evaluation: you cannot assess accountability or transparency without stating what the system is claimed to do. Remind students of the takeaways on screen and preview the next sessions, which trace AI's history, its boom-and-bust cycles, and its ethical challenges.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Close by mapping today's content to the module outcomes. Slide 3 delivers MO1 directly. Slide 4 delivers MO2. Slide 5 provides the capability criteria students need for MO3 classification exercises. MO4, on the AI winters of 1974-1980 and 1987-1993, and MO5, on bias, transparency, privacy, and accountability, are not covered in this presentation and will be treated in subsequent sessions; today's definitional vocabulary is the groundwork for both.</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Intelligence and Artificial Intelligence</a:t>
            </a:r>
          </a:p>
        </p:txBody>
      </p:sp>
      <p:sp>
        <p:nvSpPr>
          <p:cNvPr id="3" name="Content Placeholder 2"/>
          <p:cNvSpPr>
            <a:spLocks noGrp="1"/>
          </p:cNvSpPr>
          <p:nvPr>
            <p:ph idx="1"/>
          </p:nvPr>
        </p:nvSpPr>
        <p:spPr/>
        <p:txBody>
          <a:bodyPr/>
          <a:lstStyle/>
          <a:p>
            <a:pPr algn="ctr">
              <a:buNone/>
            </a:pPr>
            <a:r>
              <a:rPr lang="en-US" dirty="0"/>
              <a:t>How researchers define intelligence, and why those definitions shape the whole field.</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 We Mean by Intelligence?</a:t>
            </a:r>
          </a:p>
        </p:txBody>
      </p:sp>
      <p:sp>
        <p:nvSpPr>
          <p:cNvPr id="3" name="Content Placeholder 2"/>
          <p:cNvSpPr>
            <a:spLocks noGrp="1"/>
          </p:cNvSpPr>
          <p:nvPr>
            <p:ph idx="1"/>
          </p:nvPr>
        </p:nvSpPr>
        <p:spPr/>
        <p:txBody>
          <a:bodyPr/>
          <a:lstStyle/>
          <a:p>
            <a:r>
              <a:rPr lang="en-US" dirty="0"/>
              <a:t>No single agreed definition exists across psychology or computer science</a:t>
            </a:r>
          </a:p>
          <a:p>
            <a:r>
              <a:rPr lang="en-US" dirty="0"/>
              <a:t>Usually described as a cluster of capabilities, not one trait</a:t>
            </a:r>
          </a:p>
          <a:p>
            <a:r>
              <a:rPr lang="en-US" dirty="0"/>
              <a:t>Common elements: learning, reasoning, adaptation, problem solving, goal pursuit</a:t>
            </a:r>
          </a:p>
          <a:p>
            <a:r>
              <a:rPr lang="en-US" dirty="0"/>
              <a:t>Ambiguity shapes how we build and evaluate intelligent machines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 Classic Approaches to Defining AI</a:t>
            </a:r>
          </a:p>
        </p:txBody>
      </p:sp>
      <p:sp>
        <p:nvSpPr>
          <p:cNvPr id="3" name="Content Placeholder 2"/>
          <p:cNvSpPr>
            <a:spLocks noGrp="1"/>
          </p:cNvSpPr>
          <p:nvPr>
            <p:ph idx="1"/>
          </p:nvPr>
        </p:nvSpPr>
        <p:spPr/>
        <p:txBody>
          <a:bodyPr/>
          <a:lstStyle/>
          <a:p>
            <a:r>
              <a:rPr lang="en-US" dirty="0"/>
              <a:t>Two axes: thinking versus acting; human performance versus rationality</a:t>
            </a:r>
          </a:p>
          <a:p>
            <a:r>
              <a:rPr lang="en-US" dirty="0"/>
              <a:t>Thinking humanly: cognitive modelling of actual human thought</a:t>
            </a:r>
          </a:p>
          <a:p>
            <a:r>
              <a:rPr lang="en-US" dirty="0"/>
              <a:t>Thinking rationally: logic and formal laws of correct inference</a:t>
            </a:r>
          </a:p>
          <a:p>
            <a:r>
              <a:rPr lang="en-US" dirty="0"/>
              <a:t>Acting humanly: the Turing Test benchmark of indistinguishable behaviour</a:t>
            </a:r>
          </a:p>
          <a:p>
            <a:r>
              <a:rPr lang="en-US" dirty="0"/>
              <a:t>Acting rationally: agents that do the right thing — modern mainstream</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Turing Test as an Operational Definition</a:t>
            </a:r>
          </a:p>
        </p:txBody>
      </p:sp>
      <p:sp>
        <p:nvSpPr>
          <p:cNvPr id="3" name="Content Placeholder 2"/>
          <p:cNvSpPr>
            <a:spLocks noGrp="1"/>
          </p:cNvSpPr>
          <p:nvPr>
            <p:ph idx="1"/>
          </p:nvPr>
        </p:nvSpPr>
        <p:spPr/>
        <p:txBody>
          <a:bodyPr/>
          <a:lstStyle/>
          <a:p>
            <a:r>
              <a:rPr lang="en-US" dirty="0"/>
              <a:t>Turing (1950) replaced 'can machines think?' with a behavioural test</a:t>
            </a:r>
          </a:p>
          <a:p>
            <a:r>
              <a:rPr lang="en-US" dirty="0"/>
              <a:t>Imitation game: judge interrogates a human and machine via text</a:t>
            </a:r>
          </a:p>
          <a:p>
            <a:r>
              <a:rPr lang="en-US" dirty="0"/>
              <a:t>Machine passes if the judge cannot reliably tell them apart</a:t>
            </a:r>
          </a:p>
          <a:p>
            <a:r>
              <a:rPr lang="en-US" dirty="0"/>
              <a:t>Strengths: measurable, behaviour-focused; ignores unobservable inner states</a:t>
            </a:r>
          </a:p>
          <a:p>
            <a:r>
              <a:rPr lang="en-US" dirty="0"/>
              <a:t>Criticisms: rewards deception, tests human-likeness rather than capability</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Strong AI versus Weak AI</a:t>
            </a:r>
          </a:p>
        </p:txBody>
      </p:sp>
      <p:sp>
        <p:nvSpPr>
          <p:cNvPr id="3" name="Content Placeholder 2"/>
          <p:cNvSpPr>
            <a:spLocks noGrp="1"/>
          </p:cNvSpPr>
          <p:nvPr>
            <p:ph idx="1"/>
          </p:nvPr>
        </p:nvSpPr>
        <p:spPr/>
        <p:txBody>
          <a:bodyPr/>
          <a:lstStyle/>
          <a:p>
            <a:r>
              <a:rPr lang="en-US" dirty="0"/>
              <a:t>Weak (narrow) AI: simulates intelligence within specific, bounded tasks</a:t>
            </a:r>
          </a:p>
          <a:p>
            <a:r>
              <a:rPr lang="en-US" dirty="0"/>
              <a:t>Strong AI: genuinely possesses mind, understanding, and conscious experience</a:t>
            </a:r>
          </a:p>
          <a:p>
            <a:r>
              <a:rPr lang="en-US" dirty="0"/>
              <a:t>Searle's Chinese Room argues symbol manipulation is not understanding</a:t>
            </a:r>
          </a:p>
          <a:p>
            <a:r>
              <a:rPr lang="en-US" dirty="0"/>
              <a:t>All deployed systems today are narrow, however impressive</a:t>
            </a:r>
          </a:p>
          <a:p>
            <a:r>
              <a:rPr lang="en-US" dirty="0"/>
              <a:t>Related term: artificial general intelligence across diverse unfamiliar domains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 Agents and the Working Vocabulary</a:t>
            </a:r>
          </a:p>
        </p:txBody>
      </p:sp>
      <p:sp>
        <p:nvSpPr>
          <p:cNvPr id="3" name="Content Placeholder 2"/>
          <p:cNvSpPr>
            <a:spLocks noGrp="1"/>
          </p:cNvSpPr>
          <p:nvPr>
            <p:ph idx="1"/>
          </p:nvPr>
        </p:nvSpPr>
        <p:spPr/>
        <p:txBody>
          <a:bodyPr/>
          <a:lstStyle/>
          <a:p>
            <a:r>
              <a:rPr lang="en-US" dirty="0"/>
              <a:t>Agent: perceives an environment through sensors, acts through actuators</a:t>
            </a:r>
          </a:p>
          <a:p>
            <a:r>
              <a:rPr lang="en-US" dirty="0"/>
              <a:t>Percepts, actions, agent function, and performance measure define behaviour</a:t>
            </a:r>
          </a:p>
          <a:p>
            <a:r>
              <a:rPr lang="en-US" dirty="0"/>
              <a:t>Rational agent maximises expected performance given evidence and knowledge</a:t>
            </a:r>
          </a:p>
          <a:p>
            <a:r>
              <a:rPr lang="en-US" dirty="0"/>
              <a:t>Environments vary: observable, deterministic, static, discrete, single- or multi-agent</a:t>
            </a:r>
          </a:p>
          <a:p>
            <a:r>
              <a:rPr lang="en-US" dirty="0"/>
              <a:t>Bounded rationality acknowledges limited time and computational resources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Definitions Matter — and Summary</a:t>
            </a:r>
          </a:p>
        </p:txBody>
      </p:sp>
      <p:sp>
        <p:nvSpPr>
          <p:cNvPr id="3" name="Content Placeholder 2"/>
          <p:cNvSpPr>
            <a:spLocks noGrp="1"/>
          </p:cNvSpPr>
          <p:nvPr>
            <p:ph idx="1"/>
          </p:nvPr>
        </p:nvSpPr>
        <p:spPr/>
        <p:txBody>
          <a:bodyPr/>
          <a:lstStyle/>
          <a:p>
            <a:r>
              <a:rPr lang="en-US" dirty="0"/>
              <a:t>Definitions determine what counts as progress and how systems are evaluated</a:t>
            </a:r>
          </a:p>
          <a:p>
            <a:r>
              <a:rPr lang="en-US" dirty="0"/>
              <a:t>Vague definitions fuel hype, misplaced fear, and poor policy</a:t>
            </a:r>
          </a:p>
          <a:p>
            <a:r>
              <a:rPr lang="en-US" dirty="0"/>
              <a:t>Intelligence is a contested cluster of capabilities, not one property</a:t>
            </a:r>
          </a:p>
          <a:p>
            <a:r>
              <a:rPr lang="en-US" dirty="0"/>
              <a:t>Four framings arise from thinking/acting and human/rational axes</a:t>
            </a:r>
          </a:p>
          <a:p>
            <a:r>
              <a:rPr lang="en-US" dirty="0"/>
              <a:t>Turing Test, strong/weak distinction, and agent vocabulary anchor the field</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a:t>
            </a:r>
          </a:p>
        </p:txBody>
      </p:sp>
      <p:sp>
        <p:nvSpPr>
          <p:cNvPr id="3" name="Content Placeholder 2"/>
          <p:cNvSpPr>
            <a:spLocks noGrp="1"/>
          </p:cNvSpPr>
          <p:nvPr>
            <p:ph idx="1"/>
          </p:nvPr>
        </p:nvSpPr>
        <p:spPr/>
        <p:txBody>
          <a:bodyPr/>
          <a:lstStyle/>
          <a:p>
            <a:r>
              <a:rPr lang="en-US" dirty="0"/>
              <a:t>MO1: Fully addressed — four approaches compared on both defining axes</a:t>
            </a:r>
          </a:p>
          <a:p>
            <a:r>
              <a:rPr lang="en-US" dirty="0"/>
              <a:t>MO2: Fully addressed — imitation game procedure explained step by step</a:t>
            </a:r>
          </a:p>
          <a:p>
            <a:r>
              <a:rPr lang="en-US" dirty="0"/>
              <a:t>MO3: Supported — weak/strong capability criteria given for classifying systems</a:t>
            </a:r>
          </a:p>
          <a:p>
            <a:r>
              <a:rPr lang="en-US" dirty="0"/>
              <a:t>MO4: Not addressed — AI winters covered in a later session</a:t>
            </a:r>
          </a:p>
          <a:p>
            <a:r>
              <a:rPr lang="en-US" dirty="0"/>
              <a:t>MO5: Not addressed — ethical risk evaluation only briefly motivated</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CourseBuilder+</Application>
  <Slides>8</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Defining Intelligence and Artificial Intelligence</dc:title>
  <dc:creator>CourseBuilder+</dc:creator>
  <cp:lastModifiedBy>CourseBuilder+</cp:lastModifiedBy>
  <dcterms:created xsi:type="dcterms:W3CDTF">2026-09-28T16:27:14Z</dcterms:created>
  <dcterms:modified xsi:type="dcterms:W3CDTF">2026-09-28T16:27:14Z</dcterms:modified>
</cp:coreProperties>
</file>