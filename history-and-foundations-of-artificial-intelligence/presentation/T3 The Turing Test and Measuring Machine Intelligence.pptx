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Today we trace one of the most famous ideas in computing: Alan Turing's proposal to replace the philosophical question 'Can machines think?' with a practical, observable test. We will look at how the imitation game works, what capabilities a machine would need to pass it, how the test has been modified and commercialized, the major philosophical objections led by Searle's Chinese Room, and the task-based benchmarks researchers rely on instead today. Keep one question in mind throughout: are we measuring intelligence, or merely measuring resemblance to humans?</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Turing opened his 1950 Mind paper by noting that answering 'Can machines think?' requires defining 'machine' and 'think' — and ordinary usage of 'think' is too loose and loaded to settle by argument or survey. His move was operational: substitute a question that can be answered by experiment. If a machine's observable conversational behavior is indistinguishable from a human's, we have no principled behavioral grounds for denying it thinks. This is a behaviorist stance — it deliberately brackets consciousness, inner experience, and mechanism, and judges only external performance. Turing also anticipated and answered nine objections, including theological, mathematical (Gödel), and 'Lady Lovelace's' objection that machines can only do what we tell them.</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setup derives from a party game in which a man and woman try to fool an interrogator about their genders. Turing swapped one player for a machine. Communication is by teletype — today, a chat window — so that the machine is not penalized for lacking a human voice or body. The interrogator may ask anything: arithmetic, poetry, opinions, jokes, follow-up questions probing memory and consistency. The machine may lie, pause, or make deliberate errors to seem human. Crucially, the criterion is statistical and comparative: not 'did it seem smart?' but 'did judges do better than chance at identifying the human?' Turing forecast that by 2000, a machine with about 10^9 bits of storage would fool average interrogators 70% of the time in five-minute sessions.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Passing is not a narrow trick; it presupposes a bundle of competencies that effectively define AI's research agenda. Russell and Norvig list four for the standard test — natural language processing, knowledge representation, automated reasoning, and machine learning — and add two more for the 'total Turing test,' where a video channel and a physical hatch let the interrogator test perception and object manipulation: computer vision and robotics. This is why the test has been so influential pedagogically: it decomposes 'intelligence' into researchable sub-problems. Note the irony Russell and Norvig emphasize — most AI researchers never work on passing the test, in the same way aeronautics succeeded by not imitating pigeons.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Variants aim for rigor, practicality, or modern relevance. The total Turing test closes the embodiment loophole. The reverse Turing test inverts roles: CAPTCHAs are Turing tests administered by machines to millions of humans daily, a commercial deployment of the idea. The Loebner Prize (1991–2019) awarded annual bronze medals for the most human-seeming chatbot, though critics said it rewarded evasion tricks. Landmark systems: Weizenbaum's ELIZA (1966) fooled users with keyword reflection; Colby's PARRY simulated paranoia and fooled psychiatrists; 'Eugene Goostman' claimed a 2014 pass by posing as a 13-year-old Ukrainian boy — an excuse for poor grammar and narrow knowledge. The Winograd Schema Challenge replaced deception with disambiguation, requiring genuine world knowledge. Modern LLMs have since passed several controlled three-party Turing-test studies, reopening the debate about what passing proves.</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Searle imagines himself sealed in a room with a rulebook for shuffling Chinese characters. His outputs satisfy native speakers, yet he understands no Chinese. His conclusion: running a program is never sufficient for understanding, because programs are purely syntactic while minds have semantics. The best-known rebuttal is the Systems Reply — the person is just the CPU; understanding is a property of the entire system. Other replies include the Robot Reply (grounding through sensors) and the Brain Simulator Reply. Beyond Searle: the test measures deception rather than competence, it is gameable by evasion and canned humor, it is anthropocentric (a superintelligent system might fail by being too accurate or too fast), it is not reproducible or quantitative, and it gives no diagnostic feedback to engineers. Hence Russell and Norvig's verdict that it is more philosophically interesting than practically useful.</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Wrap-up. Because conversational imitation is narrow and gameable, the field moved to task-based, capability-based evaluation: standardized datasets and leaderboards such as ImageNet for vision, GLUE and SuperGLUE for language understanding, MMLU for broad knowledge, ARC for abstract reasoning, and holistic frameworks like HELM that score accuracy alongside robustness, calibration, fairness, toxicity, and efficiency. Red-teaming and adversarial testing probe safety. These measure performance rather than resemblance — but they carry their own risks: benchmark contamination, overfitting to leaderboards, and Goodhart's law. Key takeaways: Turing's genius was operationalizing a vague question; passing the imitation game implies broad competencies; the Chinese Room challenges whether behavior equals understanding; and today's rigorous benchmarks, not deception, define measured progress.</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deck is squarely aimed at MO2: students should be able to describe the three-party setup, the text-only channel, the questioning phase, and the statistical pass criterion. MO3 receives partial support: the capabilities implied by passing (NLP, knowledge representation, reasoning, learning, vision, robotics) and modern benchmarks give criteria for judging narrow versus general intelligence. MO1, MO4, and MO5 are covered in other sessions of the module — the four approaches to defining AI, the AI winters, and applied ethical risk evaluation respectively.</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Turing Test and Measuring Machine Intelligence</a:t>
            </a:r>
          </a:p>
        </p:txBody>
      </p:sp>
      <p:sp>
        <p:nvSpPr>
          <p:cNvPr id="3" name="Content Placeholder 2"/>
          <p:cNvSpPr>
            <a:spLocks noGrp="1"/>
          </p:cNvSpPr>
          <p:nvPr>
            <p:ph idx="1"/>
          </p:nvPr>
        </p:nvSpPr>
        <p:spPr/>
        <p:txBody>
          <a:bodyPr/>
          <a:lstStyle/>
          <a:p>
            <a:pPr algn="ctr">
              <a:buNone/>
            </a:pPr>
            <a:r>
              <a:rPr lang="en-US" dirty="0"/>
              <a:t>How Turing's imitation game became AI's first benchmark — and why it is contested today.</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Turing's Question: Can Machines Think?</a:t>
            </a:r>
          </a:p>
        </p:txBody>
      </p:sp>
      <p:sp>
        <p:nvSpPr>
          <p:cNvPr id="3" name="Content Placeholder 2"/>
          <p:cNvSpPr>
            <a:spLocks noGrp="1"/>
          </p:cNvSpPr>
          <p:nvPr>
            <p:ph idx="1"/>
          </p:nvPr>
        </p:nvSpPr>
        <p:spPr/>
        <p:txBody>
          <a:bodyPr/>
          <a:lstStyle/>
          <a:p>
            <a:r>
              <a:rPr lang="en-US" dirty="0"/>
              <a:t>1950 paper: 'Computing Machinery and Intelligence'</a:t>
            </a:r>
          </a:p>
          <a:p>
            <a:r>
              <a:rPr lang="en-US" dirty="0"/>
              <a:t>'Can machines think?' judged too vague to answer</a:t>
            </a:r>
          </a:p>
          <a:p>
            <a:r>
              <a:rPr lang="en-US" dirty="0"/>
              <a:t>Replaced with an operational, observable behavioral test</a:t>
            </a:r>
          </a:p>
          <a:p>
            <a:r>
              <a:rPr lang="en-US" dirty="0"/>
              <a:t>Shifts focus from inner mind to outward performance</a:t>
            </a:r>
          </a:p>
          <a:p>
            <a:r>
              <a:rPr lang="en-US" dirty="0"/>
              <a:t>Defines intelligence by what a system does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the Imitation Game Works</a:t>
            </a:r>
          </a:p>
        </p:txBody>
      </p:sp>
      <p:sp>
        <p:nvSpPr>
          <p:cNvPr id="3" name="Content Placeholder 2"/>
          <p:cNvSpPr>
            <a:spLocks noGrp="1"/>
          </p:cNvSpPr>
          <p:nvPr>
            <p:ph idx="1"/>
          </p:nvPr>
        </p:nvSpPr>
        <p:spPr/>
        <p:txBody>
          <a:bodyPr/>
          <a:lstStyle/>
          <a:p>
            <a:r>
              <a:rPr lang="en-US" dirty="0"/>
              <a:t>Human interrogator, two hidden participants: one human, one machine</a:t>
            </a:r>
          </a:p>
          <a:p>
            <a:r>
              <a:rPr lang="en-US" dirty="0"/>
              <a:t>Text-only channel removes voice and appearance cues</a:t>
            </a:r>
          </a:p>
          <a:p>
            <a:r>
              <a:rPr lang="en-US" dirty="0"/>
              <a:t>Interrogator asks free-ranging questions, then judges which is which</a:t>
            </a:r>
          </a:p>
          <a:p>
            <a:r>
              <a:rPr lang="en-US" dirty="0"/>
              <a:t>Machine passes if judges cannot reliably distinguish it</a:t>
            </a:r>
          </a:p>
          <a:p>
            <a:r>
              <a:rPr lang="en-US" dirty="0"/>
              <a:t>Turing predicted ~30% deception after five minutes by 2000</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Capabilities Implied by Passing</a:t>
            </a:r>
          </a:p>
        </p:txBody>
      </p:sp>
      <p:sp>
        <p:nvSpPr>
          <p:cNvPr id="3" name="Content Placeholder 2"/>
          <p:cNvSpPr>
            <a:spLocks noGrp="1"/>
          </p:cNvSpPr>
          <p:nvPr>
            <p:ph idx="1"/>
          </p:nvPr>
        </p:nvSpPr>
        <p:spPr/>
        <p:txBody>
          <a:bodyPr/>
          <a:lstStyle/>
          <a:p>
            <a:r>
              <a:rPr lang="en-US" dirty="0"/>
              <a:t>Natural language processing: understand and generate fluent conversation</a:t>
            </a:r>
          </a:p>
          <a:p>
            <a:r>
              <a:rPr lang="en-US" dirty="0"/>
              <a:t>Knowledge representation: store what it knows and hears</a:t>
            </a:r>
          </a:p>
          <a:p>
            <a:r>
              <a:rPr lang="en-US" dirty="0"/>
              <a:t>Automated reasoning: draw conclusions and answer new questions</a:t>
            </a:r>
          </a:p>
          <a:p>
            <a:r>
              <a:rPr lang="en-US" dirty="0"/>
              <a:t>Machine learning: adapt, generalize, detect patterns</a:t>
            </a:r>
          </a:p>
          <a:p>
            <a:r>
              <a:rPr lang="en-US" dirty="0"/>
              <a:t>Total test adds computer vision and robotics</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Variations and Real-World Implementations</a:t>
            </a:r>
          </a:p>
        </p:txBody>
      </p:sp>
      <p:sp>
        <p:nvSpPr>
          <p:cNvPr id="3" name="Content Placeholder 2"/>
          <p:cNvSpPr>
            <a:spLocks noGrp="1"/>
          </p:cNvSpPr>
          <p:nvPr>
            <p:ph idx="1"/>
          </p:nvPr>
        </p:nvSpPr>
        <p:spPr/>
        <p:txBody>
          <a:bodyPr/>
          <a:lstStyle/>
          <a:p>
            <a:r>
              <a:rPr lang="en-US" dirty="0"/>
              <a:t>Total Turing test adds perception and physical manipulation</a:t>
            </a:r>
          </a:p>
          <a:p>
            <a:r>
              <a:rPr lang="en-US" dirty="0"/>
              <a:t>Reverse Turing test: CAPTCHAs make machines prove nonhumanity</a:t>
            </a:r>
          </a:p>
          <a:p>
            <a:r>
              <a:rPr lang="en-US" dirty="0"/>
              <a:t>Loebner Prize ran annual restricted-domain competitions</a:t>
            </a:r>
          </a:p>
          <a:p>
            <a:r>
              <a:rPr lang="en-US" dirty="0"/>
              <a:t>ELIZA, PARRY, Eugene Goostman: famous deceptive chatbots</a:t>
            </a:r>
          </a:p>
          <a:p>
            <a:r>
              <a:rPr lang="en-US" dirty="0"/>
              <a:t>Winograd schemas test commonsense reference resolution</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Chinese Room and Other Criticisms</a:t>
            </a:r>
          </a:p>
        </p:txBody>
      </p:sp>
      <p:sp>
        <p:nvSpPr>
          <p:cNvPr id="3" name="Content Placeholder 2"/>
          <p:cNvSpPr>
            <a:spLocks noGrp="1"/>
          </p:cNvSpPr>
          <p:nvPr>
            <p:ph idx="1"/>
          </p:nvPr>
        </p:nvSpPr>
        <p:spPr/>
        <p:txBody>
          <a:bodyPr/>
          <a:lstStyle/>
          <a:p>
            <a:r>
              <a:rPr lang="en-US" dirty="0"/>
              <a:t>Searle (1980): person follows rules, outputs perfect Chinese</a:t>
            </a:r>
          </a:p>
          <a:p>
            <a:r>
              <a:rPr lang="en-US" dirty="0"/>
              <a:t>Symbol manipulation yields syntax, not semantics or understanding</a:t>
            </a:r>
          </a:p>
          <a:p>
            <a:r>
              <a:rPr lang="en-US" dirty="0"/>
              <a:t>Systems reply: the whole room understands, not the person</a:t>
            </a:r>
          </a:p>
          <a:p>
            <a:r>
              <a:rPr lang="en-US" dirty="0"/>
              <a:t>Test rewards deception, small talk, and human-like errors</a:t>
            </a:r>
          </a:p>
          <a:p>
            <a:r>
              <a:rPr lang="en-US" dirty="0"/>
              <a:t>Anthropocentric: penalizes non-human forms of intelligence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Alternatives and Conclusion</a:t>
            </a:r>
          </a:p>
        </p:txBody>
      </p:sp>
      <p:sp>
        <p:nvSpPr>
          <p:cNvPr id="3" name="Content Placeholder 2"/>
          <p:cNvSpPr>
            <a:spLocks noGrp="1"/>
          </p:cNvSpPr>
          <p:nvPr>
            <p:ph idx="1"/>
          </p:nvPr>
        </p:nvSpPr>
        <p:spPr/>
        <p:txBody>
          <a:bodyPr/>
          <a:lstStyle/>
          <a:p>
            <a:r>
              <a:rPr lang="en-US" dirty="0"/>
              <a:t>Modern evaluation: task benchmarks, not human resemblance</a:t>
            </a:r>
          </a:p>
          <a:p>
            <a:r>
              <a:rPr lang="en-US" dirty="0"/>
              <a:t>Examples: GLUE, SuperGLUE, ImageNet, MMLU, ARC, HELM</a:t>
            </a:r>
          </a:p>
          <a:p>
            <a:r>
              <a:rPr lang="en-US" dirty="0"/>
              <a:t>Measure capability, robustness, calibration, safety, and bias</a:t>
            </a:r>
          </a:p>
          <a:p>
            <a:r>
              <a:rPr lang="en-US" dirty="0"/>
              <a:t>Turing reframed intelligence as observable behavior — a lasting contribution</a:t>
            </a:r>
          </a:p>
          <a:p>
            <a:r>
              <a:rPr lang="en-US" dirty="0"/>
              <a:t>Passing conversation ≠ understanding; benchmarks now define progress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Alignment with Learning Outcomes</a:t>
            </a:r>
          </a:p>
        </p:txBody>
      </p:sp>
      <p:sp>
        <p:nvSpPr>
          <p:cNvPr id="3" name="Content Placeholder 2"/>
          <p:cNvSpPr>
            <a:spLocks noGrp="1"/>
          </p:cNvSpPr>
          <p:nvPr>
            <p:ph idx="1"/>
          </p:nvPr>
        </p:nvSpPr>
        <p:spPr/>
        <p:txBody>
          <a:bodyPr/>
          <a:lstStyle/>
          <a:p>
            <a:r>
              <a:rPr lang="en-US" dirty="0"/>
              <a:t>MO1: Not directly addressed; acting-humanly approach referenced only in passing</a:t>
            </a:r>
          </a:p>
          <a:p>
            <a:r>
              <a:rPr lang="en-US" dirty="0"/>
              <a:t>MO2: Fully supported — imitation game procedure explained in detail</a:t>
            </a:r>
          </a:p>
          <a:p>
            <a:r>
              <a:rPr lang="en-US" dirty="0"/>
              <a:t>MO3: Partially supported via capability criteria and benchmark discussion</a:t>
            </a:r>
          </a:p>
          <a:p>
            <a:r>
              <a:rPr lang="en-US" dirty="0"/>
              <a:t>MO4: Not addressed — AI winters fall outside this presentation</a:t>
            </a:r>
          </a:p>
          <a:p>
            <a:r>
              <a:rPr lang="en-US" dirty="0"/>
              <a:t>MO5: Not addressed; bias and safety noted only within benchmarks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CourseBuilder+</Application>
  <Slides>8</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The Turing Test and Measuring Machine Intelligence</dc:title>
  <dc:creator>CourseBuilder+</dc:creator>
  <cp:lastModifiedBy>CourseBuilder+</cp:lastModifiedBy>
  <dcterms:created xsi:type="dcterms:W3CDTF">2026-09-28T16:28:46Z</dcterms:created>
  <dcterms:modified xsi:type="dcterms:W3CDTF">2026-09-28T16:28:46Z</dcterms:modified>
</cp:coreProperties>
</file>