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Today we survey where artificial intelligence actually operates in the world, not just in theory. We will look at five major sectors — healthcare, finance and business, transportation and robotics, education, and creative or generative work — and then step back to identify the strengths and limitations that recur across all of them. The goal is to build realistic expectations: to see both the genuine practical value AI delivers and the places where deployments disappoint or cause harm. Keep in mind throughout that every application domain carries its own accountability, bias, privacy, and transparency questions.</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Healthcare is the most visible and consequential applied-AI domain. Convolutional models now match or exceed specialist performance on narrow imaging tasks such as detecting diabetic retinopathy or flagging suspicious lung nodules. In drug discovery, systems like AlphaFold predict protein structures that once required years of laboratory work. Large language models are reducing clinician paperwork through automated note-taking. But the stakes are high: when a model misses a tumour, who is accountable — the clinician, the hospital, or the vendor? Models trained on one population often degrade on another, and opaque reasoning makes it hard for a doctor to know when to override. Trust, regulatory approval, and clear liability remain unresolved.</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Finance adopted statistical and machine learning methods decades before the current boom, because banks held clean structured records and every percentage point of accuracy converted directly into money. Fraud detection is a classic anomaly-detection problem operating on millions of transactions per second. Credit scoring and underwriting models decide who receives loans and at what price; algorithmic and high-frequency trading execute strategies faster than humans can react. Businesses also use AI for demand forecasting, supply-chain optimisation, and customer service. The central ethical issue is that credit models can encode historical discrimination through proxy variables like postcode, and applicants rarely receive a meaningful explanation for rejection — which is why regulators increasingly demand transparency and auditability.</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Here AI leaves the screen and acts in the physical world, where mistakes have immediate physical consequences. An autonomous vehicle must fuse camera, radar, and lidar input into a world model, predict what other agents will do, plan a trajectory, and execute control — all in real time, all under uncertainty. Robotics illustrates Moravec's paradox: tasks trivial for a toddler, like grasping an unfamiliar object, remain hard, while chess is easy. Warehouse and surgical robots succeed because their environments are constrained and structured. Open-road driving is not. This is the clearest example of the gap between an impressive demonstration and a dependable deployment: performance on the long tail of rare edge cases, not average performance, determines safety.</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Educational AI has a long lineage — intelligent tutoring systems such as SCHOLAR and later cognitive tutors emerged from 1970s and 1980s AI research on student modelling. The modern promise is the same: approximate one-to-one tutoring at scale by modelling what a learner knows and adapting the next problem accordingly. Generative models now support drafting lesson materials, generating practice questions, and giving instant feedback, freeing teacher time from routine marking. The risks are real: classroom monitoring tools raise privacy and surveillance concerns about minors' data; automated essay scoring can be gamed and can penalise non-standard English; and unequal device or connectivity access can widen rather than narrow attainment gaps.</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Generative models extended AI into domains long considered uniquely human. Diffusion models produce images from text prompts; large language models draft prose and code; music systems compose in learned styles. More than any other domain, this shift transformed public perception — AI stopped being a back-office classifier and became something people interact with daily. In practice these are powerful ideation and drafting tools that compress the cost of a first attempt. But they are trained on copyrighted human work without consent in many cases, raising live legal questions about attribution and compensation. And fluency is not accuracy: models hallucinate citations and facts with complete confidence, so human verification remains essential.</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Across every sector the same profile appears. AI excels at high-volume pattern recognition, operates consistently without fatigue, and scales far beyond human capacity. It struggles outside its training distribution, inherits and amplifies bias in its data, cannot explain its reasoning in human terms, and lacks genuine causal understanding or common sense. Consequently the recurring ethical risks — bias, transparency, privacy, accountability — are not sector-specific quirks but structural features of the technology. The practical lesson is to set realistic expectations: deploy AI where errors are recoverable and a human remains meaningfully in the loop, and treat impressive demonstrations as a starting point for evaluation rather than proof of readiness.</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brief note on alignment. This presentation is a domain survey, so it maps most directly onto MO5: every sector slide identifies the bias, transparency, privacy, and accountability risks specific to that deployment context, giving you concrete material for evaluating a proposed system. MO3 receives partial support, since each example is a narrow system succeeding on a bounded task, which reinforces the weak-versus-strong distinction taught elsewhere. MO1, MO2, and MO4 — the definitional approaches, the imitation game, and the AI winters — are covered in other sessions of the module and are not addressed here.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Domains of AI</a:t>
            </a:r>
          </a:p>
        </p:txBody>
      </p:sp>
      <p:sp>
        <p:nvSpPr>
          <p:cNvPr id="3" name="Content Placeholder 2"/>
          <p:cNvSpPr>
            <a:spLocks noGrp="1"/>
          </p:cNvSpPr>
          <p:nvPr>
            <p:ph idx="1"/>
          </p:nvPr>
        </p:nvSpPr>
        <p:spPr/>
        <p:txBody>
          <a:bodyPr/>
          <a:lstStyle/>
          <a:p>
            <a:pPr algn="ctr">
              <a:buNone/>
            </a:pPr>
            <a:r>
              <a:rPr lang="en-US" dirty="0"/>
              <a:t>How AI is deployed across healthcare, finance, transport, education, and creative work.</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in Healthcare and Medicine</a:t>
            </a:r>
          </a:p>
        </p:txBody>
      </p:sp>
      <p:sp>
        <p:nvSpPr>
          <p:cNvPr id="3" name="Content Placeholder 2"/>
          <p:cNvSpPr>
            <a:spLocks noGrp="1"/>
          </p:cNvSpPr>
          <p:nvPr>
            <p:ph idx="1"/>
          </p:nvPr>
        </p:nvSpPr>
        <p:spPr/>
        <p:txBody>
          <a:bodyPr/>
          <a:lstStyle/>
          <a:p>
            <a:r>
              <a:rPr lang="en-US" dirty="0"/>
              <a:t>Diagnostic support: imaging analysis in radiology, pathology, dermatology</a:t>
            </a:r>
          </a:p>
          <a:p>
            <a:r>
              <a:rPr lang="en-US" dirty="0"/>
              <a:t>Drug discovery: protein structure prediction, molecule screening</a:t>
            </a:r>
          </a:p>
          <a:p>
            <a:r>
              <a:rPr lang="en-US" dirty="0"/>
              <a:t>Triage, risk scoring, and clinical documentation assistance</a:t>
            </a:r>
          </a:p>
          <a:p>
            <a:r>
              <a:rPr lang="en-US" dirty="0"/>
              <a:t>High stakes raise accountability, trust, and liability questions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in Finance and Business</a:t>
            </a:r>
          </a:p>
        </p:txBody>
      </p:sp>
      <p:sp>
        <p:nvSpPr>
          <p:cNvPr id="3" name="Content Placeholder 2"/>
          <p:cNvSpPr>
            <a:spLocks noGrp="1"/>
          </p:cNvSpPr>
          <p:nvPr>
            <p:ph idx="1"/>
          </p:nvPr>
        </p:nvSpPr>
        <p:spPr/>
        <p:txBody>
          <a:bodyPr/>
          <a:lstStyle/>
          <a:p>
            <a:r>
              <a:rPr lang="en-US" dirty="0"/>
              <a:t>Early adopters: abundant structured data, clear economic incentives</a:t>
            </a:r>
          </a:p>
          <a:p>
            <a:r>
              <a:rPr lang="en-US" dirty="0"/>
              <a:t>Fraud detection and anti-money-laundering pattern recognition</a:t>
            </a:r>
          </a:p>
          <a:p>
            <a:r>
              <a:rPr lang="en-US" dirty="0"/>
              <a:t>Credit scoring, underwriting, and algorithmic trading</a:t>
            </a:r>
          </a:p>
          <a:p>
            <a:r>
              <a:rPr lang="en-US" dirty="0"/>
              <a:t>Customer service chatbots and demand forecasting</a:t>
            </a:r>
          </a:p>
          <a:p>
            <a:r>
              <a:rPr lang="en-US" dirty="0"/>
              <a:t>Bias and opacity in lending decisions invite regulation</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in Transportation and Robotics</a:t>
            </a:r>
          </a:p>
        </p:txBody>
      </p:sp>
      <p:sp>
        <p:nvSpPr>
          <p:cNvPr id="3" name="Content Placeholder 2"/>
          <p:cNvSpPr>
            <a:spLocks noGrp="1"/>
          </p:cNvSpPr>
          <p:nvPr>
            <p:ph idx="1"/>
          </p:nvPr>
        </p:nvSpPr>
        <p:spPr/>
        <p:txBody>
          <a:bodyPr/>
          <a:lstStyle/>
          <a:p>
            <a:r>
              <a:rPr lang="en-US" dirty="0"/>
              <a:t>Perception, planning, and control must integrate under uncertainty</a:t>
            </a:r>
          </a:p>
          <a:p>
            <a:r>
              <a:rPr lang="en-US" dirty="0"/>
              <a:t>Autonomous vehicles: sensor fusion, lidar, camera, mapping</a:t>
            </a:r>
          </a:p>
          <a:p>
            <a:r>
              <a:rPr lang="en-US" dirty="0"/>
              <a:t>Warehouse, surgical, and industrial robots in structured settings</a:t>
            </a:r>
          </a:p>
          <a:p>
            <a:r>
              <a:rPr lang="en-US" dirty="0"/>
              <a:t>Demo-to-deployment gap: edge cases defeat reliable generalisation</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in Education</a:t>
            </a:r>
          </a:p>
        </p:txBody>
      </p:sp>
      <p:sp>
        <p:nvSpPr>
          <p:cNvPr id="3" name="Content Placeholder 2"/>
          <p:cNvSpPr>
            <a:spLocks noGrp="1"/>
          </p:cNvSpPr>
          <p:nvPr>
            <p:ph idx="1"/>
          </p:nvPr>
        </p:nvSpPr>
        <p:spPr/>
        <p:txBody>
          <a:bodyPr/>
          <a:lstStyle/>
          <a:p>
            <a:r>
              <a:rPr lang="en-US" dirty="0"/>
              <a:t>Intelligent tutoring systems trace back to decades of AI research</a:t>
            </a:r>
          </a:p>
          <a:p>
            <a:r>
              <a:rPr lang="en-US" dirty="0"/>
              <a:t>Personalised pacing, adaptive practice, and immediate feedback</a:t>
            </a:r>
          </a:p>
          <a:p>
            <a:r>
              <a:rPr lang="en-US" dirty="0"/>
              <a:t>Automated grading and reduced routine teacher workload</a:t>
            </a:r>
          </a:p>
          <a:p>
            <a:r>
              <a:rPr lang="en-US" dirty="0"/>
              <a:t>Concerns: surveillance, data privacy, over-reliance, equity of access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in Creative and Generative Work</a:t>
            </a:r>
          </a:p>
        </p:txBody>
      </p:sp>
      <p:sp>
        <p:nvSpPr>
          <p:cNvPr id="3" name="Content Placeholder 2"/>
          <p:cNvSpPr>
            <a:spLocks noGrp="1"/>
          </p:cNvSpPr>
          <p:nvPr>
            <p:ph idx="1"/>
          </p:nvPr>
        </p:nvSpPr>
        <p:spPr/>
        <p:txBody>
          <a:bodyPr/>
          <a:lstStyle/>
          <a:p>
            <a:r>
              <a:rPr lang="en-US" dirty="0"/>
              <a:t>Generative models produce text, images, music, and code</a:t>
            </a:r>
          </a:p>
          <a:p>
            <a:r>
              <a:rPr lang="en-US" dirty="0"/>
              <a:t>Reshaped public perception of what AI can do</a:t>
            </a:r>
          </a:p>
          <a:p>
            <a:r>
              <a:rPr lang="en-US" dirty="0"/>
              <a:t>Tools for drafting, ideation, prototyping, and coding assistance</a:t>
            </a:r>
          </a:p>
          <a:p>
            <a:r>
              <a:rPr lang="en-US" dirty="0"/>
              <a:t>Disputes over training data, copyright, attribution, and authorship</a:t>
            </a:r>
          </a:p>
          <a:p>
            <a:r>
              <a:rPr lang="en-US" dirty="0"/>
              <a:t>Fluent output can be confidently wrong or derivative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Cross-Cutting Strengths, Limitations, and Conclusion</a:t>
            </a:r>
          </a:p>
        </p:txBody>
      </p:sp>
      <p:sp>
        <p:nvSpPr>
          <p:cNvPr id="3" name="Content Placeholder 2"/>
          <p:cNvSpPr>
            <a:spLocks noGrp="1"/>
          </p:cNvSpPr>
          <p:nvPr>
            <p:ph idx="1"/>
          </p:nvPr>
        </p:nvSpPr>
        <p:spPr/>
        <p:txBody>
          <a:bodyPr/>
          <a:lstStyle/>
          <a:p>
            <a:r>
              <a:rPr lang="en-US" dirty="0"/>
              <a:t>Strengths: scale, speed, pattern detection, consistency, tireless operation</a:t>
            </a:r>
          </a:p>
          <a:p>
            <a:r>
              <a:rPr lang="en-US" dirty="0"/>
              <a:t>Limitations: brittleness, data dependence, no causal or commonsense reasoning</a:t>
            </a:r>
          </a:p>
          <a:p>
            <a:r>
              <a:rPr lang="en-US" dirty="0"/>
              <a:t>Recurring risks: bias, opacity, privacy, unclear accountability</a:t>
            </a:r>
          </a:p>
          <a:p>
            <a:r>
              <a:rPr lang="en-US" dirty="0"/>
              <a:t>Best results come from human-AI collaboration, not replacement</a:t>
            </a:r>
          </a:p>
          <a:p>
            <a:r>
              <a:rPr lang="en-US" dirty="0"/>
              <a:t>Evaluate every proposed deployment against domain-specific stakes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a:t>
            </a:r>
          </a:p>
        </p:txBody>
      </p:sp>
      <p:sp>
        <p:nvSpPr>
          <p:cNvPr id="3" name="Content Placeholder 2"/>
          <p:cNvSpPr>
            <a:spLocks noGrp="1"/>
          </p:cNvSpPr>
          <p:nvPr>
            <p:ph idx="1"/>
          </p:nvPr>
        </p:nvSpPr>
        <p:spPr/>
        <p:txBody>
          <a:bodyPr/>
          <a:lstStyle/>
          <a:p>
            <a:r>
              <a:rPr lang="en-US" dirty="0"/>
              <a:t>MO1: Not addressed — no coverage of the four definitional approaches.</a:t>
            </a:r>
          </a:p>
          <a:p>
            <a:r>
              <a:rPr lang="en-US" dirty="0"/>
              <a:t>MO2: Not addressed — Turing's imitation game not discussed here.</a:t>
            </a:r>
          </a:p>
          <a:p>
            <a:r>
              <a:rPr lang="en-US" dirty="0"/>
              <a:t>MO3: Partially — domain examples illustrate narrow, task-specific AI capability.</a:t>
            </a:r>
          </a:p>
          <a:p>
            <a:r>
              <a:rPr lang="en-US" dirty="0"/>
              <a:t>MO4: Not addressed — AI winters and their causes lie elsewhere.</a:t>
            </a:r>
          </a:p>
          <a:p>
            <a:r>
              <a:rPr lang="en-US" dirty="0"/>
              <a:t>MO5: Strongly supported — ethical risks examined within each application domain.</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CourseBuilder+</Application>
  <Slides>8</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Application Domains of AI</dc:title>
  <dc:creator>CourseBuilder+</dc:creator>
  <cp:lastModifiedBy>CourseBuilder+</cp:lastModifiedBy>
  <dcterms:created xsi:type="dcterms:W3CDTF">2026-09-28T16:31:19Z</dcterms:created>
  <dcterms:modified xsi:type="dcterms:W3CDTF">2026-09-28T16:31:19Z</dcterms:modified>
</cp:coreProperties>
</file>